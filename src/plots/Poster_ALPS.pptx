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30267275" cy="4279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77"/>
    <a:srgbClr val="37A0CB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94"/>
  </p:normalViewPr>
  <p:slideViewPr>
    <p:cSldViewPr snapToGrid="0">
      <p:cViewPr>
        <p:scale>
          <a:sx n="18" d="100"/>
          <a:sy n="18" d="100"/>
        </p:scale>
        <p:origin x="3016" y="536"/>
      </p:cViewPr>
      <p:guideLst/>
    </p:cSldViewPr>
  </p:slideViewPr>
  <p:notesTextViewPr>
    <p:cViewPr>
      <p:scale>
        <a:sx n="110" d="100"/>
        <a:sy n="11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</p:spPr>
        <p:txBody>
          <a:bodyPr anchor="b"/>
          <a:lstStyle>
            <a:lvl1pPr algn="ctr"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</p:spPr>
        <p:txBody>
          <a:bodyPr/>
          <a:lstStyle>
            <a:lvl1pPr marL="0" indent="0" algn="ctr">
              <a:buNone/>
              <a:defRPr sz="7944"/>
            </a:lvl1pPr>
            <a:lvl2pPr marL="1513378" indent="0" algn="ctr">
              <a:buNone/>
              <a:defRPr sz="6620"/>
            </a:lvl2pPr>
            <a:lvl3pPr marL="3026755" indent="0" algn="ctr">
              <a:buNone/>
              <a:defRPr sz="5958"/>
            </a:lvl3pPr>
            <a:lvl4pPr marL="4540133" indent="0" algn="ctr">
              <a:buNone/>
              <a:defRPr sz="5296"/>
            </a:lvl4pPr>
            <a:lvl5pPr marL="6053511" indent="0" algn="ctr">
              <a:buNone/>
              <a:defRPr sz="5296"/>
            </a:lvl5pPr>
            <a:lvl6pPr marL="7566889" indent="0" algn="ctr">
              <a:buNone/>
              <a:defRPr sz="5296"/>
            </a:lvl6pPr>
            <a:lvl7pPr marL="9080266" indent="0" algn="ctr">
              <a:buNone/>
              <a:defRPr sz="5296"/>
            </a:lvl7pPr>
            <a:lvl8pPr marL="10593644" indent="0" algn="ctr">
              <a:buNone/>
              <a:defRPr sz="5296"/>
            </a:lvl8pPr>
            <a:lvl9pPr marL="12107022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6E89-2D59-3D46-ACA5-BF5B8C4C6EDA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2EB9-DD32-DF4C-81CB-D84033B6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32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6E89-2D59-3D46-ACA5-BF5B8C4C6EDA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2EB9-DD32-DF4C-81CB-D84033B6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4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</p:spPr>
        <p:txBody>
          <a:bodyPr anchor="b"/>
          <a:lstStyle>
            <a:lvl1pPr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</p:spPr>
        <p:txBody>
          <a:bodyPr/>
          <a:lstStyle>
            <a:lvl1pPr marL="0" indent="0">
              <a:buNone/>
              <a:defRPr sz="7944">
                <a:solidFill>
                  <a:schemeClr val="tx1">
                    <a:tint val="82000"/>
                  </a:schemeClr>
                </a:solidFill>
              </a:defRPr>
            </a:lvl1pPr>
            <a:lvl2pPr marL="1513378" indent="0">
              <a:buNone/>
              <a:defRPr sz="6620">
                <a:solidFill>
                  <a:schemeClr val="tx1">
                    <a:tint val="82000"/>
                  </a:schemeClr>
                </a:solidFill>
              </a:defRPr>
            </a:lvl2pPr>
            <a:lvl3pPr marL="3026755" indent="0">
              <a:buNone/>
              <a:defRPr sz="5958">
                <a:solidFill>
                  <a:schemeClr val="tx1">
                    <a:tint val="82000"/>
                  </a:schemeClr>
                </a:solidFill>
              </a:defRPr>
            </a:lvl3pPr>
            <a:lvl4pPr marL="4540133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4pPr>
            <a:lvl5pPr marL="6053511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5pPr>
            <a:lvl6pPr marL="7566889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6pPr>
            <a:lvl7pPr marL="9080266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7pPr>
            <a:lvl8pPr marL="10593644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8pPr>
            <a:lvl9pPr marL="12107022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6E89-2D59-3D46-ACA5-BF5B8C4C6EDA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2EB9-DD32-DF4C-81CB-D84033B6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46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6E89-2D59-3D46-ACA5-BF5B8C4C6EDA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2EB9-DD32-DF4C-81CB-D84033B6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6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15631784"/>
            <a:ext cx="1280447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0" y="10490535"/>
            <a:ext cx="1286753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0" y="15631784"/>
            <a:ext cx="1286753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6E89-2D59-3D46-ACA5-BF5B8C4C6EDA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2EB9-DD32-DF4C-81CB-D84033B6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71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6E89-2D59-3D46-ACA5-BF5B8C4C6EDA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2EB9-DD32-DF4C-81CB-D84033B6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70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6E89-2D59-3D46-ACA5-BF5B8C4C6EDA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2EB9-DD32-DF4C-81CB-D84033B6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53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87"/>
            <a:ext cx="15322808" cy="30411646"/>
          </a:xfrm>
        </p:spPr>
        <p:txBody>
          <a:bodyPr/>
          <a:lstStyle>
            <a:lvl1pPr>
              <a:defRPr sz="10592"/>
            </a:lvl1pPr>
            <a:lvl2pPr>
              <a:defRPr sz="9268"/>
            </a:lvl2pPr>
            <a:lvl3pPr>
              <a:defRPr sz="7944"/>
            </a:lvl3pPr>
            <a:lvl4pPr>
              <a:defRPr sz="6620"/>
            </a:lvl4pPr>
            <a:lvl5pPr>
              <a:defRPr sz="6620"/>
            </a:lvl5pPr>
            <a:lvl6pPr>
              <a:defRPr sz="6620"/>
            </a:lvl6pPr>
            <a:lvl7pPr>
              <a:defRPr sz="6620"/>
            </a:lvl7pPr>
            <a:lvl8pPr>
              <a:defRPr sz="6620"/>
            </a:lvl8pPr>
            <a:lvl9pPr>
              <a:defRPr sz="6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6E89-2D59-3D46-ACA5-BF5B8C4C6EDA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2EB9-DD32-DF4C-81CB-D84033B6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54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6161587"/>
            <a:ext cx="15322808" cy="30411646"/>
          </a:xfrm>
        </p:spPr>
        <p:txBody>
          <a:bodyPr anchor="t"/>
          <a:lstStyle>
            <a:lvl1pPr marL="0" indent="0">
              <a:buNone/>
              <a:defRPr sz="10592"/>
            </a:lvl1pPr>
            <a:lvl2pPr marL="1513378" indent="0">
              <a:buNone/>
              <a:defRPr sz="9268"/>
            </a:lvl2pPr>
            <a:lvl3pPr marL="3026755" indent="0">
              <a:buNone/>
              <a:defRPr sz="7944"/>
            </a:lvl3pPr>
            <a:lvl4pPr marL="4540133" indent="0">
              <a:buNone/>
              <a:defRPr sz="6620"/>
            </a:lvl4pPr>
            <a:lvl5pPr marL="6053511" indent="0">
              <a:buNone/>
              <a:defRPr sz="6620"/>
            </a:lvl5pPr>
            <a:lvl6pPr marL="7566889" indent="0">
              <a:buNone/>
              <a:defRPr sz="6620"/>
            </a:lvl6pPr>
            <a:lvl7pPr marL="9080266" indent="0">
              <a:buNone/>
              <a:defRPr sz="6620"/>
            </a:lvl7pPr>
            <a:lvl8pPr marL="10593644" indent="0">
              <a:buNone/>
              <a:defRPr sz="6620"/>
            </a:lvl8pPr>
            <a:lvl9pPr marL="12107022" indent="0">
              <a:buNone/>
              <a:defRPr sz="66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6E89-2D59-3D46-ACA5-BF5B8C4C6EDA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2EB9-DD32-DF4C-81CB-D84033B6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6E89-2D59-3D46-ACA5-BF5B8C4C6EDA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2EB9-DD32-DF4C-81CB-D84033B6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13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0" y="2278397"/>
            <a:ext cx="6526381" cy="362661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7" y="2278397"/>
            <a:ext cx="19200803" cy="362661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6E89-2D59-3D46-ACA5-BF5B8C4C6EDA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2EB9-DD32-DF4C-81CB-D84033B6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74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F36E89-2D59-3D46-ACA5-BF5B8C4C6EDA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32EB9-DD32-DF4C-81CB-D84033B64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24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6755" rtl="0" eaLnBrk="1" latinLnBrk="0" hangingPunct="1">
        <a:lnSpc>
          <a:spcPct val="90000"/>
        </a:lnSpc>
        <a:spcBef>
          <a:spcPct val="0"/>
        </a:spcBef>
        <a:buNone/>
        <a:defRPr sz="145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689" indent="-756689" algn="l" defTabSz="3026755" rtl="0" eaLnBrk="1" latinLnBrk="0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68" kern="1200">
          <a:solidFill>
            <a:schemeClr val="tx1"/>
          </a:solidFill>
          <a:latin typeface="+mn-lt"/>
          <a:ea typeface="+mn-ea"/>
          <a:cs typeface="+mn-cs"/>
        </a:defRPr>
      </a:lvl1pPr>
      <a:lvl2pPr marL="227006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3783444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0" kern="1200">
          <a:solidFill>
            <a:schemeClr val="tx1"/>
          </a:solidFill>
          <a:latin typeface="+mn-lt"/>
          <a:ea typeface="+mn-ea"/>
          <a:cs typeface="+mn-cs"/>
        </a:defRPr>
      </a:lvl3pPr>
      <a:lvl4pPr marL="5296822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810200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832357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836955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1350333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863711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1pPr>
      <a:lvl2pPr marL="1513378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2pPr>
      <a:lvl3pPr marL="3026755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3pPr>
      <a:lvl4pPr marL="4540133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053511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7566889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080266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0593644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107022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jpg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4F2CC53-7D53-9DA6-AF35-F5CD895C97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42" y="1"/>
            <a:ext cx="30251796" cy="427942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09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09AFC4-0832-7C17-8816-1BFB19170C30}"/>
              </a:ext>
            </a:extLst>
          </p:cNvPr>
          <p:cNvSpPr/>
          <p:nvPr/>
        </p:nvSpPr>
        <p:spPr>
          <a:xfrm>
            <a:off x="578071" y="672288"/>
            <a:ext cx="29061797" cy="5171399"/>
          </a:xfrm>
          <a:prstGeom prst="rect">
            <a:avLst/>
          </a:prstGeom>
          <a:ln>
            <a:solidFill>
              <a:srgbClr val="003E7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635" dirty="0">
                <a:latin typeface="Century Gothic" panose="020B0502020202020204" pitchFamily="34" charset="0"/>
              </a:rPr>
              <a:t>Statistical Probes of Multilingual Embeddings Fail to Generalize Across Language Learner Corpora</a:t>
            </a:r>
            <a:br>
              <a:rPr lang="en-US" sz="7635" dirty="0">
                <a:latin typeface="Century Gothic" panose="020B0502020202020204" pitchFamily="34" charset="0"/>
              </a:rPr>
            </a:br>
            <a:r>
              <a:rPr lang="en-US" sz="4524" i="1" dirty="0">
                <a:latin typeface="Century Gothic" panose="020B0502020202020204" pitchFamily="34" charset="0"/>
              </a:rPr>
              <a:t>Laurits Lyngbaek, Ross Deans Kristensen-McLachlan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1AA2E9-9EB9-6952-DCC2-68036FA46514}"/>
              </a:ext>
            </a:extLst>
          </p:cNvPr>
          <p:cNvSpPr>
            <a:spLocks/>
          </p:cNvSpPr>
          <p:nvPr/>
        </p:nvSpPr>
        <p:spPr>
          <a:xfrm>
            <a:off x="602740" y="6481950"/>
            <a:ext cx="29061797" cy="12472954"/>
          </a:xfrm>
          <a:prstGeom prst="rect">
            <a:avLst/>
          </a:prstGeom>
          <a:ln>
            <a:solidFill>
              <a:srgbClr val="003E7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635" dirty="0">
              <a:latin typeface="Century Gothic" panose="020B0502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AEB323-03AA-00F4-89EA-AD437B2BA340}"/>
              </a:ext>
            </a:extLst>
          </p:cNvPr>
          <p:cNvSpPr>
            <a:spLocks/>
          </p:cNvSpPr>
          <p:nvPr/>
        </p:nvSpPr>
        <p:spPr>
          <a:xfrm>
            <a:off x="627410" y="19325805"/>
            <a:ext cx="14221352" cy="22796149"/>
          </a:xfrm>
          <a:prstGeom prst="rect">
            <a:avLst/>
          </a:prstGeom>
          <a:ln>
            <a:solidFill>
              <a:srgbClr val="003E7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635" dirty="0">
              <a:latin typeface="Century Gothic" panose="020B0502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D33B1C-C45D-B21D-2B1D-B0CF5ED1EE35}"/>
              </a:ext>
            </a:extLst>
          </p:cNvPr>
          <p:cNvSpPr txBox="1"/>
          <p:nvPr/>
        </p:nvSpPr>
        <p:spPr>
          <a:xfrm>
            <a:off x="602741" y="7072341"/>
            <a:ext cx="29061795" cy="962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656" dirty="0">
                <a:latin typeface="Century Gothic" panose="020B0502020202020204" pitchFamily="34" charset="0"/>
              </a:rPr>
              <a:t>Leave-One-Dataset-Out Significantly Decreases Performance of Probes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A262847-C307-993F-C31E-6FF32E207B43}"/>
              </a:ext>
            </a:extLst>
          </p:cNvPr>
          <p:cNvGrpSpPr/>
          <p:nvPr/>
        </p:nvGrpSpPr>
        <p:grpSpPr>
          <a:xfrm>
            <a:off x="2500283" y="8619641"/>
            <a:ext cx="26344535" cy="9945733"/>
            <a:chOff x="1762912" y="6432013"/>
            <a:chExt cx="18632819" cy="703436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301ABC4-18EE-8EF7-14B8-134532B82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" t="13317" r="26759" b="10576"/>
            <a:stretch>
              <a:fillRect/>
            </a:stretch>
          </p:blipFill>
          <p:spPr>
            <a:xfrm>
              <a:off x="1762912" y="6432013"/>
              <a:ext cx="9579584" cy="703436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5A265C2-D1ED-D7F2-D128-ABC4C0851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986" t="21417" r="14239" b="11353"/>
            <a:stretch>
              <a:fillRect/>
            </a:stretch>
          </p:blipFill>
          <p:spPr>
            <a:xfrm>
              <a:off x="11475514" y="6832372"/>
              <a:ext cx="8920217" cy="5904391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4D32B7AB-1DC1-24C0-0C02-75B569FCCE0B}"/>
              </a:ext>
            </a:extLst>
          </p:cNvPr>
          <p:cNvSpPr>
            <a:spLocks/>
          </p:cNvSpPr>
          <p:nvPr/>
        </p:nvSpPr>
        <p:spPr>
          <a:xfrm>
            <a:off x="15418513" y="19325805"/>
            <a:ext cx="14221352" cy="22796149"/>
          </a:xfrm>
          <a:prstGeom prst="rect">
            <a:avLst/>
          </a:prstGeom>
          <a:ln>
            <a:solidFill>
              <a:srgbClr val="003E7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635" dirty="0">
              <a:latin typeface="Century Gothic" panose="020B0502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B8F3CE-25E9-30C8-5441-4784E79AA4A4}"/>
              </a:ext>
            </a:extLst>
          </p:cNvPr>
          <p:cNvSpPr txBox="1"/>
          <p:nvPr/>
        </p:nvSpPr>
        <p:spPr>
          <a:xfrm>
            <a:off x="984417" y="20153709"/>
            <a:ext cx="13729596" cy="701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959" dirty="0">
                <a:latin typeface="Century Gothic" panose="020B0502020202020204" pitchFamily="34" charset="0"/>
              </a:rPr>
              <a:t>Performance of Individual Probes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E9C297-BC07-8C60-5053-72619EC15166}"/>
              </a:ext>
            </a:extLst>
          </p:cNvPr>
          <p:cNvSpPr txBox="1"/>
          <p:nvPr/>
        </p:nvSpPr>
        <p:spPr>
          <a:xfrm>
            <a:off x="-8344759" y="12654262"/>
            <a:ext cx="184731" cy="6323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509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0E0735D-3F9B-62BD-EAAC-175BC2086408}"/>
              </a:ext>
            </a:extLst>
          </p:cNvPr>
          <p:cNvSpPr txBox="1"/>
          <p:nvPr/>
        </p:nvSpPr>
        <p:spPr>
          <a:xfrm>
            <a:off x="16232718" y="20209923"/>
            <a:ext cx="12838293" cy="113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959" dirty="0">
                <a:latin typeface="Century Gothic" panose="020B0502020202020204" pitchFamily="34" charset="0"/>
              </a:rPr>
              <a:t>Investigation of Drop in Performance in Late Layers:</a:t>
            </a:r>
            <a:br>
              <a:rPr lang="en-US" sz="3959" dirty="0">
                <a:latin typeface="Century Gothic" panose="020B0502020202020204" pitchFamily="34" charset="0"/>
              </a:rPr>
            </a:br>
            <a:r>
              <a:rPr lang="en-US" sz="2828" i="1" dirty="0">
                <a:latin typeface="Century Gothic" panose="020B0502020202020204" pitchFamily="34" charset="0"/>
              </a:rPr>
              <a:t>The Linear Regression Probe for Qwen3-4B</a:t>
            </a:r>
            <a:endParaRPr lang="en-US" sz="3959" i="1" dirty="0">
              <a:latin typeface="Century Gothic" panose="020B0502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35F7FE-66B8-7707-E863-9F8571103C6F}"/>
              </a:ext>
            </a:extLst>
          </p:cNvPr>
          <p:cNvSpPr txBox="1"/>
          <p:nvPr/>
        </p:nvSpPr>
        <p:spPr>
          <a:xfrm>
            <a:off x="957800" y="35932545"/>
            <a:ext cx="13729596" cy="1746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959" dirty="0">
                <a:latin typeface="Century Gothic" panose="020B0502020202020204" pitchFamily="34" charset="0"/>
              </a:rPr>
              <a:t>Performance Bias of Individual Datasets</a:t>
            </a:r>
          </a:p>
          <a:p>
            <a:pPr algn="ctr" defTabSz="646412">
              <a:defRPr/>
            </a:pPr>
            <a:r>
              <a:rPr lang="en-US" sz="2828" dirty="0">
                <a:solidFill>
                  <a:prstClr val="black"/>
                </a:solidFill>
                <a:latin typeface="Century Gothic" panose="020B0502020202020204" pitchFamily="34" charset="0"/>
              </a:rPr>
              <a:t>For Qwen3-4B</a:t>
            </a:r>
          </a:p>
          <a:p>
            <a:pPr algn="ctr"/>
            <a:endParaRPr lang="en-US" sz="3959" dirty="0">
              <a:latin typeface="Century Gothic" panose="020B0502020202020204" pitchFamily="34" charset="0"/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F2692B4-2784-B56A-F942-686C706840B3}"/>
              </a:ext>
            </a:extLst>
          </p:cNvPr>
          <p:cNvGrpSpPr/>
          <p:nvPr/>
        </p:nvGrpSpPr>
        <p:grpSpPr>
          <a:xfrm>
            <a:off x="15887938" y="22010398"/>
            <a:ext cx="13182818" cy="9146668"/>
            <a:chOff x="11860194" y="21775242"/>
            <a:chExt cx="8385253" cy="5817961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EA08F8E2-FD1F-22EE-C7AF-38DBB1C32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2498" b="1313"/>
            <a:stretch>
              <a:fillRect/>
            </a:stretch>
          </p:blipFill>
          <p:spPr>
            <a:xfrm>
              <a:off x="11860195" y="22358854"/>
              <a:ext cx="8385252" cy="5080560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E6EBA5F-E745-353E-4B76-1E364B3A01F3}"/>
                </a:ext>
              </a:extLst>
            </p:cNvPr>
            <p:cNvSpPr txBox="1"/>
            <p:nvPr/>
          </p:nvSpPr>
          <p:spPr>
            <a:xfrm>
              <a:off x="12294038" y="27409874"/>
              <a:ext cx="3549731" cy="183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73" dirty="0">
                  <a:latin typeface="Century Gothic" panose="020B0502020202020204" pitchFamily="34" charset="0"/>
                </a:rPr>
                <a:t>Predicted CEFR Level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9B6F625-4212-656C-0FA1-1B59644CFA90}"/>
                </a:ext>
              </a:extLst>
            </p:cNvPr>
            <p:cNvSpPr txBox="1"/>
            <p:nvPr/>
          </p:nvSpPr>
          <p:spPr>
            <a:xfrm>
              <a:off x="16485042" y="27409874"/>
              <a:ext cx="3517013" cy="183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73" dirty="0">
                  <a:latin typeface="Century Gothic" panose="020B0502020202020204" pitchFamily="34" charset="0"/>
                </a:rPr>
                <a:t>Predicted CEFR Level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84E8FD3-FF38-A677-4D5C-57F4B3B4207C}"/>
                </a:ext>
              </a:extLst>
            </p:cNvPr>
            <p:cNvSpPr txBox="1"/>
            <p:nvPr/>
          </p:nvSpPr>
          <p:spPr>
            <a:xfrm>
              <a:off x="11860194" y="21775242"/>
              <a:ext cx="8262274" cy="4022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509" dirty="0">
                  <a:latin typeface="Century Gothic" panose="020B0502020202020204" pitchFamily="34" charset="0"/>
                </a:rPr>
                <a:t>Predicted Distributions of CEFR Levels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9A5139C-EE28-4953-C286-243FD25105E0}"/>
                </a:ext>
              </a:extLst>
            </p:cNvPr>
            <p:cNvSpPr txBox="1"/>
            <p:nvPr/>
          </p:nvSpPr>
          <p:spPr>
            <a:xfrm>
              <a:off x="12176150" y="22151259"/>
              <a:ext cx="3864712" cy="2248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97" dirty="0">
                  <a:latin typeface="Century Gothic" panose="020B0502020202020204" pitchFamily="34" charset="0"/>
                </a:rPr>
                <a:t>Identical Distribution (IID)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0DADC3E-B053-FBA7-6A68-C65FEC2C6EA7}"/>
                </a:ext>
              </a:extLst>
            </p:cNvPr>
            <p:cNvSpPr txBox="1"/>
            <p:nvPr/>
          </p:nvSpPr>
          <p:spPr>
            <a:xfrm>
              <a:off x="16443833" y="22151259"/>
              <a:ext cx="3757838" cy="2248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97" dirty="0">
                  <a:latin typeface="Century Gothic" panose="020B0502020202020204" pitchFamily="34" charset="0"/>
                </a:rPr>
                <a:t>Out of Distribution (OOD)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E8AB0C3-C191-8F4A-1ABE-9928A4638424}"/>
              </a:ext>
            </a:extLst>
          </p:cNvPr>
          <p:cNvGrpSpPr/>
          <p:nvPr/>
        </p:nvGrpSpPr>
        <p:grpSpPr>
          <a:xfrm>
            <a:off x="15951169" y="31926831"/>
            <a:ext cx="13129121" cy="9264717"/>
            <a:chOff x="11860194" y="15525100"/>
            <a:chExt cx="8385250" cy="5917148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2DFC54B-E1E7-B08C-DF9D-5AC9B40B226E}"/>
                </a:ext>
              </a:extLst>
            </p:cNvPr>
            <p:cNvSpPr txBox="1"/>
            <p:nvPr/>
          </p:nvSpPr>
          <p:spPr>
            <a:xfrm>
              <a:off x="12176150" y="21258169"/>
              <a:ext cx="3785509" cy="1840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73" dirty="0">
                  <a:latin typeface="Century Gothic" panose="020B0502020202020204" pitchFamily="34" charset="0"/>
                </a:rPr>
                <a:t>Residuals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1CAE863-F4E9-4647-01C8-22313421566E}"/>
                </a:ext>
              </a:extLst>
            </p:cNvPr>
            <p:cNvSpPr txBox="1"/>
            <p:nvPr/>
          </p:nvSpPr>
          <p:spPr>
            <a:xfrm>
              <a:off x="16364630" y="21258169"/>
              <a:ext cx="3757838" cy="1840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73" dirty="0">
                  <a:latin typeface="Century Gothic" panose="020B0502020202020204" pitchFamily="34" charset="0"/>
                </a:rPr>
                <a:t>Residuals</a:t>
              </a: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D9C8EAD-4FE8-A3AA-9BF9-CA670A9FA8AC}"/>
                </a:ext>
              </a:extLst>
            </p:cNvPr>
            <p:cNvGrpSpPr/>
            <p:nvPr/>
          </p:nvGrpSpPr>
          <p:grpSpPr>
            <a:xfrm>
              <a:off x="11860194" y="15525100"/>
              <a:ext cx="8385250" cy="5756306"/>
              <a:chOff x="11860194" y="15525100"/>
              <a:chExt cx="8385250" cy="5756306"/>
            </a:xfrm>
          </p:grpSpPr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6D277F1F-0A0E-7902-57F4-84FAFA9A5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1488" b="51010"/>
              <a:stretch>
                <a:fillRect/>
              </a:stretch>
            </p:blipFill>
            <p:spPr>
              <a:xfrm>
                <a:off x="11860194" y="16056377"/>
                <a:ext cx="8385250" cy="5225029"/>
              </a:xfrm>
              <a:prstGeom prst="rect">
                <a:avLst/>
              </a:prstGeom>
            </p:spPr>
          </p:pic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32CB1AB-7D5C-666F-F02B-43A50438C032}"/>
                  </a:ext>
                </a:extLst>
              </p:cNvPr>
              <p:cNvSpPr txBox="1"/>
              <p:nvPr/>
            </p:nvSpPr>
            <p:spPr>
              <a:xfrm>
                <a:off x="12096947" y="15854269"/>
                <a:ext cx="3864712" cy="225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97" dirty="0">
                    <a:latin typeface="Century Gothic" panose="020B0502020202020204" pitchFamily="34" charset="0"/>
                  </a:rPr>
                  <a:t>Identical Distribution (IID)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673F785-3DA0-26B2-76C6-7B383F29188C}"/>
                  </a:ext>
                </a:extLst>
              </p:cNvPr>
              <p:cNvSpPr txBox="1"/>
              <p:nvPr/>
            </p:nvSpPr>
            <p:spPr>
              <a:xfrm>
                <a:off x="16364630" y="15854269"/>
                <a:ext cx="3757838" cy="225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97" dirty="0">
                    <a:latin typeface="Century Gothic" panose="020B0502020202020204" pitchFamily="34" charset="0"/>
                  </a:rPr>
                  <a:t>Out of Distribution (OOD)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013C7DE-7212-5C0C-0CB4-1DD5D601FAC5}"/>
                  </a:ext>
                </a:extLst>
              </p:cNvPr>
              <p:cNvSpPr txBox="1"/>
              <p:nvPr/>
            </p:nvSpPr>
            <p:spPr>
              <a:xfrm>
                <a:off x="11918145" y="15525100"/>
                <a:ext cx="8262274" cy="403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509" dirty="0">
                    <a:latin typeface="Century Gothic" panose="020B0502020202020204" pitchFamily="34" charset="0"/>
                  </a:rPr>
                  <a:t>Residuals of Predicted CEFR Levels</a:t>
                </a:r>
              </a:p>
            </p:txBody>
          </p:sp>
        </p:grpSp>
      </p:grpSp>
      <p:pic>
        <p:nvPicPr>
          <p:cNvPr id="96" name="Picture 95" descr="A close-up of a logo&#10;&#10;AI-generated content may be incorrect.">
            <a:extLst>
              <a:ext uri="{FF2B5EF4-FFF2-40B4-BE49-F238E27FC236}">
                <a16:creationId xmlns:a16="http://schemas.microsoft.com/office/drawing/2014/main" id="{34E19DDD-0B85-4869-8127-4E3B985529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737" y="4737933"/>
            <a:ext cx="3253717" cy="1083807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75232DB3-356A-981D-0AA4-F35EC1D413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86429" y="4734974"/>
            <a:ext cx="4663271" cy="109433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DDA93195-1A7C-942A-471A-BDA2724F498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687" t="9753" r="10954" b="57627"/>
          <a:stretch>
            <a:fillRect/>
          </a:stretch>
        </p:blipFill>
        <p:spPr>
          <a:xfrm>
            <a:off x="2699860" y="20864860"/>
            <a:ext cx="10568021" cy="5999529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F605E596-18E8-40E5-C698-5D2A103951FC}"/>
              </a:ext>
            </a:extLst>
          </p:cNvPr>
          <p:cNvSpPr txBox="1"/>
          <p:nvPr/>
        </p:nvSpPr>
        <p:spPr>
          <a:xfrm>
            <a:off x="873287" y="27966264"/>
            <a:ext cx="13729596" cy="113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959" dirty="0">
                <a:latin typeface="Century Gothic" panose="020B0502020202020204" pitchFamily="34" charset="0"/>
              </a:rPr>
              <a:t>Layer-Wise QWK of Individual Probes</a:t>
            </a:r>
          </a:p>
          <a:p>
            <a:pPr algn="ctr"/>
            <a:r>
              <a:rPr lang="en-US" sz="2828" dirty="0">
                <a:latin typeface="Century Gothic" panose="020B0502020202020204" pitchFamily="34" charset="0"/>
              </a:rPr>
              <a:t>For Qwen3-4B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7FD8F1A-20ED-86EF-8A29-9C27F9B51EED}"/>
              </a:ext>
            </a:extLst>
          </p:cNvPr>
          <p:cNvSpPr txBox="1"/>
          <p:nvPr/>
        </p:nvSpPr>
        <p:spPr>
          <a:xfrm>
            <a:off x="2602618" y="26651043"/>
            <a:ext cx="108996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Aggregated Across layers, value indicates best performing layer, parenthesis indicate mean performance across layers. Best performing is bold. 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A859562-75DB-3F3C-52B8-8FF0216F3D40}"/>
              </a:ext>
            </a:extLst>
          </p:cNvPr>
          <p:cNvGrpSpPr/>
          <p:nvPr/>
        </p:nvGrpSpPr>
        <p:grpSpPr>
          <a:xfrm>
            <a:off x="2820883" y="29141630"/>
            <a:ext cx="9766254" cy="6490516"/>
            <a:chOff x="2236105" y="20609436"/>
            <a:chExt cx="6907423" cy="4590577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239E46A-8FAA-E240-728B-BAE369CCA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97" b="-1"/>
            <a:stretch>
              <a:fillRect/>
            </a:stretch>
          </p:blipFill>
          <p:spPr>
            <a:xfrm>
              <a:off x="2236105" y="20609436"/>
              <a:ext cx="6907423" cy="4590577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2FA0F5D7-17BE-41EE-95FF-9B617E1FE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flipV="1">
              <a:off x="4035972" y="20675086"/>
              <a:ext cx="3897305" cy="229990"/>
            </a:xfrm>
            <a:prstGeom prst="rect">
              <a:avLst/>
            </a:prstGeom>
          </p:spPr>
        </p:pic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8BB025E-101E-EAAC-9DB3-17F28BED1225}"/>
              </a:ext>
            </a:extLst>
          </p:cNvPr>
          <p:cNvGrpSpPr/>
          <p:nvPr/>
        </p:nvGrpSpPr>
        <p:grpSpPr>
          <a:xfrm>
            <a:off x="1066131" y="37290693"/>
            <a:ext cx="13343912" cy="4335891"/>
            <a:chOff x="778634" y="26216711"/>
            <a:chExt cx="9437809" cy="3066665"/>
          </a:xfrm>
        </p:grpSpPr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370F6536-3B63-7CF4-FADA-4A200F90F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flipV="1">
              <a:off x="778634" y="26216711"/>
              <a:ext cx="9437809" cy="3066665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8BD009D5-D19E-EAFC-6AF8-369A4674D089}"/>
                </a:ext>
              </a:extLst>
            </p:cNvPr>
            <p:cNvGrpSpPr/>
            <p:nvPr/>
          </p:nvGrpSpPr>
          <p:grpSpPr>
            <a:xfrm>
              <a:off x="834520" y="26237433"/>
              <a:ext cx="9298464" cy="2948070"/>
              <a:chOff x="531250" y="24812786"/>
              <a:chExt cx="9445112" cy="2994565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D1D24E43-CE48-C493-15DE-5EBD8AFAD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50589" t="11663" r="1"/>
              <a:stretch>
                <a:fillRect/>
              </a:stretch>
            </p:blipFill>
            <p:spPr>
              <a:xfrm>
                <a:off x="5243329" y="24812786"/>
                <a:ext cx="4733033" cy="2994565"/>
              </a:xfrm>
              <a:prstGeom prst="rect">
                <a:avLst/>
              </a:prstGeom>
            </p:spPr>
          </p:pic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2B15DD3E-DF13-2784-391E-CD31E441484A}"/>
                  </a:ext>
                </a:extLst>
              </p:cNvPr>
              <p:cNvGrpSpPr/>
              <p:nvPr/>
            </p:nvGrpSpPr>
            <p:grpSpPr>
              <a:xfrm>
                <a:off x="531250" y="24828283"/>
                <a:ext cx="4712079" cy="2963569"/>
                <a:chOff x="2553608" y="22907472"/>
                <a:chExt cx="5949606" cy="3741887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4723B692-9983-9718-F064-2E1969A005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rcRect l="3606" t="11663" r="50294"/>
                <a:stretch>
                  <a:fillRect/>
                </a:stretch>
              </p:blipFill>
              <p:spPr>
                <a:xfrm>
                  <a:off x="2985292" y="22907472"/>
                  <a:ext cx="5517922" cy="3741887"/>
                </a:xfrm>
                <a:prstGeom prst="rect">
                  <a:avLst/>
                </a:prstGeom>
              </p:spPr>
            </p:pic>
            <p:pic>
              <p:nvPicPr>
                <p:cNvPr id="93" name="Picture 92">
                  <a:extLst>
                    <a:ext uri="{FF2B5EF4-FFF2-40B4-BE49-F238E27FC236}">
                      <a16:creationId xmlns:a16="http://schemas.microsoft.com/office/drawing/2014/main" id="{6EFC5EC5-7CC4-3D71-7291-EBC4F3F88B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rcRect t="11663" r="96393"/>
                <a:stretch>
                  <a:fillRect/>
                </a:stretch>
              </p:blipFill>
              <p:spPr>
                <a:xfrm>
                  <a:off x="2553608" y="22907472"/>
                  <a:ext cx="431684" cy="3741887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839432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851</TotalTime>
  <Words>121</Words>
  <Application>Microsoft Macintosh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Century Gothic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Laurits Wieslander Lyngbæk</dc:creator>
  <cp:lastModifiedBy>Laurits Wieslander Lyngbæk</cp:lastModifiedBy>
  <cp:revision>2</cp:revision>
  <cp:lastPrinted>2026-03-17T12:16:38Z</cp:lastPrinted>
  <dcterms:created xsi:type="dcterms:W3CDTF">2026-03-16T22:52:03Z</dcterms:created>
  <dcterms:modified xsi:type="dcterms:W3CDTF">2026-03-17T13:05:29Z</dcterms:modified>
</cp:coreProperties>
</file>