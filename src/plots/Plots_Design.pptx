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2001A"/>
    <a:srgbClr val="655A9F"/>
    <a:srgbClr val="C6DCBE"/>
    <a:srgbClr val="FABB00"/>
    <a:srgbClr val="D9F2D0"/>
    <a:srgbClr val="FDDA8E"/>
    <a:srgbClr val="DAF2D0"/>
    <a:srgbClr val="00ABA4"/>
    <a:srgbClr val="000000"/>
    <a:srgbClr val="0D0D0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163"/>
    <p:restoredTop sz="95026"/>
  </p:normalViewPr>
  <p:slideViewPr>
    <p:cSldViewPr snapToGrid="0">
      <p:cViewPr>
        <p:scale>
          <a:sx n="93" d="100"/>
          <a:sy n="93" d="100"/>
        </p:scale>
        <p:origin x="-40" y="1000"/>
      </p:cViewPr>
      <p:guideLst/>
    </p:cSldViewPr>
  </p:slideViewPr>
  <p:notesTextViewPr>
    <p:cViewPr>
      <p:scale>
        <a:sx n="20" d="100"/>
        <a:sy n="2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6903FD-3A5F-6842-A4B5-3D8FFB14CDE8}" type="datetimeFigureOut">
              <a:rPr lang="en-US" smtClean="0"/>
              <a:t>3/19/26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EC7839-F1D1-2946-8FBD-3F925F8EF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213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EC7839-F1D1-2946-8FBD-3F925F8EF68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4117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EC7839-F1D1-2946-8FBD-3F925F8EF68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4735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EC7839-F1D1-2946-8FBD-3F925F8EF68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2082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EB7EB-9AA1-893A-503A-AB42F916BA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195517-1180-9043-8B54-AB59D9233F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6A682A-E7E4-8371-0AFB-BB18B26B8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5CC27-B0BF-C043-9BBB-3210B3BD3E8D}" type="datetimeFigureOut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FE9C95-1B71-7300-C5DD-DF8EE043A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FF1D7E-616B-13E5-F2E9-692F3900D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1DEE8-B50A-5649-B92D-E09D79041A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7087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3ABFE-D215-E55A-926E-4F0C8AD36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789C99-F017-68A8-9170-26B9CDE7C1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450040-99E3-08FA-F1A3-44DCBCB1B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5CC27-B0BF-C043-9BBB-3210B3BD3E8D}" type="datetimeFigureOut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525C5D-7041-0DBB-9575-014C98674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6F8649-BC3A-2D18-3B32-2274F477D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1DEE8-B50A-5649-B92D-E09D79041A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82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ED2566-A991-A4F2-4EC7-30098B2F9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90EAAC-15E4-1A8C-C592-CEA23AC7B8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B46820-ACE8-0D49-7BB5-34B15A958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5CC27-B0BF-C043-9BBB-3210B3BD3E8D}" type="datetimeFigureOut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06EBFF-D1DF-AFED-FCCB-2E871A141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368817-5E34-1578-4580-BE153346F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1DEE8-B50A-5649-B92D-E09D79041A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20078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3F2CA9-78D7-003F-B2D4-784DD0F29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794232-0DD9-0288-B64E-BFACAD6510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D4D558-876F-CCE0-D40D-C056038122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03E0BE-48DB-28D0-7121-716AC3FBD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5CC27-B0BF-C043-9BBB-3210B3BD3E8D}" type="datetimeFigureOut">
              <a:rPr lang="en-US" smtClean="0"/>
              <a:t>3/19/26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E36249-C11F-F635-7787-809EA99BA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33637F-E7AA-F77E-521D-927FF593C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1DEE8-B50A-5649-B92D-E09D79041A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3271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FB194-1A3B-3BFC-B2BF-3FA221228A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6014F1-008D-59F6-02BA-C11125C9C0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F1BE98-0516-AF5D-5D23-08A771BD74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11570F-1569-72EC-48E7-D1B0FD5C85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A4F269F-F589-098E-A7BF-E931B26E2F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604F670-B2EA-B31F-2EB7-DA7FC3E22A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5CC27-B0BF-C043-9BBB-3210B3BD3E8D}" type="datetimeFigureOut">
              <a:rPr lang="en-US" smtClean="0"/>
              <a:t>3/19/26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DA26FB0-7FFD-087B-CC87-501FFF5D15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AA591B-F136-1171-0644-2229B887A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1DEE8-B50A-5649-B92D-E09D79041A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9960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AA9F57-F1FC-4859-C737-1C4E6B2E0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36DF71-8E4C-2082-E203-0660894EC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5CC27-B0BF-C043-9BBB-3210B3BD3E8D}" type="datetimeFigureOut">
              <a:rPr lang="en-US" smtClean="0"/>
              <a:t>3/19/26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37F2C7-62C1-322B-A6B4-56962939A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831338-155F-D400-1110-BE28471A9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1DEE8-B50A-5649-B92D-E09D79041A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6659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9FA4C59-5341-49FF-1DFC-DC3A97C0EB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5CC27-B0BF-C043-9BBB-3210B3BD3E8D}" type="datetimeFigureOut">
              <a:rPr lang="en-US" smtClean="0"/>
              <a:t>3/19/26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CEEC2F-0750-708A-BD0E-06665070D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1A69D4-15FD-DBB2-E146-A0ABF02E3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1DEE8-B50A-5649-B92D-E09D79041A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2808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98DCC-FB9C-DFE6-AC1A-E1FCAB9FA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E2BD6B-A3B7-B6CF-5D88-C332829CEC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22F6B9-CA10-84AD-CFA4-0488BC35EC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23BAE3-1864-1F61-BF93-C393CDBC0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5CC27-B0BF-C043-9BBB-3210B3BD3E8D}" type="datetimeFigureOut">
              <a:rPr lang="en-US" smtClean="0"/>
              <a:t>3/19/26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66998C-21FD-01BD-A0F5-870B719BBB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916F71-34AB-4B5D-C8B0-5AC37EADA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1DEE8-B50A-5649-B92D-E09D79041A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46854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7F647-7293-34C6-380B-EBFC06EEC9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2C7C9F-3DB7-2D1D-A566-CCAAB92AF4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B295C0-0B46-9EA8-35D2-722C913C9E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7CF64B-49F2-6445-3831-27DD797A0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5CC27-B0BF-C043-9BBB-3210B3BD3E8D}" type="datetimeFigureOut">
              <a:rPr lang="en-US" smtClean="0"/>
              <a:t>3/19/26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7B0D2C-DE26-66B4-5157-82ACA14046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E4BF56-437C-1A74-D328-4786315EE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1DEE8-B50A-5649-B92D-E09D79041A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6556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B8C71-EDCA-F191-F5C5-FDDE72A33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CF5530-714A-7EE2-D4BC-1D38C25BB3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F0D541-6B29-CDFB-8EB9-C88F20428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5CC27-B0BF-C043-9BBB-3210B3BD3E8D}" type="datetimeFigureOut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6344AF-8396-1130-E971-210F36D215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501550-D903-B7B9-1336-24309E78A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1DEE8-B50A-5649-B92D-E09D79041A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5708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13B993E-14D6-0FFD-691B-3969F0C781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0E4DA1-967C-5EC2-7499-4B01DFE498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79CFC5-3F2E-DABD-42A1-F1309C4639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5CC27-B0BF-C043-9BBB-3210B3BD3E8D}" type="datetimeFigureOut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C7A0AB-85F6-80F6-2E1E-C22105D13F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419CF2-D3CF-E454-723F-667064D1D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1DEE8-B50A-5649-B92D-E09D79041A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68799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CFDCB8D-12C8-F0F9-D3BF-196D8EE4C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8E88F0-C669-E73F-4529-F8D87843C1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FD2891-5138-DF9A-1F2F-764F79B50F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F5CC27-B0BF-C043-9BBB-3210B3BD3E8D}" type="datetimeFigureOut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C4B893-B65A-1BD2-BABD-5C054E5084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42D996-A931-F624-9E03-EE9DBD1D20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E1DEE8-B50A-5649-B92D-E09D79041A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355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7" Type="http://schemas.openxmlformats.org/officeDocument/2006/relationships/image" Target="../media/image13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emf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Picture 38">
            <a:extLst>
              <a:ext uri="{FF2B5EF4-FFF2-40B4-BE49-F238E27FC236}">
                <a16:creationId xmlns:a16="http://schemas.microsoft.com/office/drawing/2014/main" id="{B17DFBBC-FC7B-4D17-F5E9-021C6A70974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76" t="9332" r="23691" b="4864"/>
          <a:stretch>
            <a:fillRect/>
          </a:stretch>
        </p:blipFill>
        <p:spPr>
          <a:xfrm>
            <a:off x="2152230" y="1474080"/>
            <a:ext cx="7901082" cy="458032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E354297-BEF7-D044-70D2-0ACDDCC0838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9275" t="29744" r="1211" b="59465"/>
          <a:stretch>
            <a:fillRect/>
          </a:stretch>
        </p:blipFill>
        <p:spPr>
          <a:xfrm>
            <a:off x="8797737" y="6109256"/>
            <a:ext cx="1542117" cy="42882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1E103207-FB79-60BF-F711-862D2090F9D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9306" t="12896" r="2274" b="73124"/>
          <a:stretch>
            <a:fillRect/>
          </a:stretch>
        </p:blipFill>
        <p:spPr>
          <a:xfrm>
            <a:off x="7355778" y="6118399"/>
            <a:ext cx="1422687" cy="542982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59AF4C76-D0FF-C587-EBC9-414D8EC9B7A9}"/>
              </a:ext>
            </a:extLst>
          </p:cNvPr>
          <p:cNvSpPr txBox="1"/>
          <p:nvPr/>
        </p:nvSpPr>
        <p:spPr>
          <a:xfrm>
            <a:off x="2333332" y="979736"/>
            <a:ext cx="7814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entury Gothic" panose="020B0502020202020204" pitchFamily="34" charset="0"/>
              </a:rPr>
              <a:t>Predictive </a:t>
            </a:r>
            <a:r>
              <a:rPr lang="en-US" sz="2000" dirty="0">
                <a:latin typeface="Century Gothic" panose="020B0502020202020204" pitchFamily="34" charset="0"/>
              </a:rPr>
              <a:t>Accuracy</a:t>
            </a:r>
            <a:r>
              <a:rPr lang="en-US" dirty="0">
                <a:latin typeface="Century Gothic" panose="020B0502020202020204" pitchFamily="34" charset="0"/>
              </a:rPr>
              <a:t> Conditioned on Test Distribution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C54B88F-3975-0FA1-BFB1-863E05BEA40C}"/>
              </a:ext>
            </a:extLst>
          </p:cNvPr>
          <p:cNvSpPr txBox="1"/>
          <p:nvPr/>
        </p:nvSpPr>
        <p:spPr>
          <a:xfrm>
            <a:off x="3070700" y="2400624"/>
            <a:ext cx="3288485" cy="2725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350"/>
              </a:lnSpc>
              <a:buNone/>
            </a:pP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entury Gothic" panose="020B0502020202020204" pitchFamily="34" charset="0"/>
              </a:rPr>
              <a:t>Identically Distributed (IID) Test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4A95BE4-D1A0-C3DE-A3CF-38FB66FA099D}"/>
              </a:ext>
            </a:extLst>
          </p:cNvPr>
          <p:cNvSpPr txBox="1"/>
          <p:nvPr/>
        </p:nvSpPr>
        <p:spPr>
          <a:xfrm>
            <a:off x="2898725" y="3479334"/>
            <a:ext cx="3632433" cy="2724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350"/>
              </a:lnSpc>
              <a:buNone/>
            </a:pP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entury Gothic" panose="020B0502020202020204" pitchFamily="34" charset="0"/>
              </a:rPr>
              <a:t>Out-of-Distribution (OOD) Test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A7C8349-6F22-EBC2-65DA-224C7CAF949B}"/>
              </a:ext>
            </a:extLst>
          </p:cNvPr>
          <p:cNvSpPr txBox="1"/>
          <p:nvPr/>
        </p:nvSpPr>
        <p:spPr>
          <a:xfrm rot="16200000">
            <a:off x="-674593" y="3778091"/>
            <a:ext cx="49016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Century Gothic" panose="020B0502020202020204" pitchFamily="34" charset="0"/>
              </a:rPr>
              <a:t>Mean Quadratic Weighted Kappa (QWK)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4597380-1B25-3CC7-1FB4-B42DF3B1E750}"/>
              </a:ext>
            </a:extLst>
          </p:cNvPr>
          <p:cNvSpPr txBox="1"/>
          <p:nvPr/>
        </p:nvSpPr>
        <p:spPr>
          <a:xfrm rot="16200000">
            <a:off x="-467867" y="3801180"/>
            <a:ext cx="49016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solidFill>
                  <a:schemeClr val="bg2">
                    <a:lumMod val="50000"/>
                  </a:schemeClr>
                </a:solidFill>
                <a:latin typeface="Century Gothic" panose="020B0502020202020204" pitchFamily="34" charset="0"/>
              </a:rPr>
              <a:t>Across Datasets and Probes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B3CE1E7-5A7A-21E6-CBF9-C6F1914D9D56}"/>
              </a:ext>
            </a:extLst>
          </p:cNvPr>
          <p:cNvSpPr txBox="1"/>
          <p:nvPr/>
        </p:nvSpPr>
        <p:spPr>
          <a:xfrm>
            <a:off x="2631273" y="6142356"/>
            <a:ext cx="70316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Century Gothic" panose="020B0502020202020204" pitchFamily="34" charset="0"/>
              </a:rPr>
              <a:t>Hidden Layers of Models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C4E224C-4962-BCBB-4D69-6069820CFAD7}"/>
              </a:ext>
            </a:extLst>
          </p:cNvPr>
          <p:cNvCxnSpPr>
            <a:cxnSpLocks/>
          </p:cNvCxnSpPr>
          <p:nvPr/>
        </p:nvCxnSpPr>
        <p:spPr>
          <a:xfrm>
            <a:off x="2239231" y="3931985"/>
            <a:ext cx="784084" cy="0"/>
          </a:xfrm>
          <a:prstGeom prst="line">
            <a:avLst/>
          </a:prstGeom>
          <a:ln>
            <a:solidFill>
              <a:srgbClr val="000000">
                <a:alpha val="4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53D814F8-E540-84F6-78DE-657C3EB26CE1}"/>
              </a:ext>
            </a:extLst>
          </p:cNvPr>
          <p:cNvCxnSpPr>
            <a:cxnSpLocks/>
          </p:cNvCxnSpPr>
          <p:nvPr/>
        </p:nvCxnSpPr>
        <p:spPr>
          <a:xfrm>
            <a:off x="7079226" y="3931985"/>
            <a:ext cx="2954936" cy="0"/>
          </a:xfrm>
          <a:prstGeom prst="line">
            <a:avLst/>
          </a:prstGeom>
          <a:ln>
            <a:solidFill>
              <a:srgbClr val="000000">
                <a:alpha val="4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AB818660-6BB0-3317-8470-F9D477EE3CE4}"/>
              </a:ext>
            </a:extLst>
          </p:cNvPr>
          <p:cNvCxnSpPr>
            <a:cxnSpLocks/>
          </p:cNvCxnSpPr>
          <p:nvPr/>
        </p:nvCxnSpPr>
        <p:spPr>
          <a:xfrm>
            <a:off x="3023315" y="3931985"/>
            <a:ext cx="4055911" cy="0"/>
          </a:xfrm>
          <a:prstGeom prst="line">
            <a:avLst/>
          </a:prstGeom>
          <a:ln>
            <a:solidFill>
              <a:srgbClr val="0D0D0D">
                <a:alpha val="2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DED67757-C4D9-8854-D10A-774C2DFCBE71}"/>
              </a:ext>
            </a:extLst>
          </p:cNvPr>
          <p:cNvCxnSpPr>
            <a:cxnSpLocks/>
          </p:cNvCxnSpPr>
          <p:nvPr/>
        </p:nvCxnSpPr>
        <p:spPr>
          <a:xfrm>
            <a:off x="2239231" y="4389907"/>
            <a:ext cx="444709" cy="0"/>
          </a:xfrm>
          <a:prstGeom prst="line">
            <a:avLst/>
          </a:prstGeom>
          <a:ln>
            <a:solidFill>
              <a:srgbClr val="000000">
                <a:alpha val="40000"/>
              </a:srgb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FF7CC288-102A-0711-EBA2-19C1307C7839}"/>
              </a:ext>
            </a:extLst>
          </p:cNvPr>
          <p:cNvCxnSpPr>
            <a:cxnSpLocks/>
          </p:cNvCxnSpPr>
          <p:nvPr/>
        </p:nvCxnSpPr>
        <p:spPr>
          <a:xfrm>
            <a:off x="2690037" y="4393183"/>
            <a:ext cx="2167128" cy="0"/>
          </a:xfrm>
          <a:prstGeom prst="line">
            <a:avLst/>
          </a:prstGeom>
          <a:ln>
            <a:solidFill>
              <a:srgbClr val="0D0D0D">
                <a:alpha val="20000"/>
              </a:srgb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F28654F2-431F-F780-392B-D0991C1A4392}"/>
              </a:ext>
            </a:extLst>
          </p:cNvPr>
          <p:cNvCxnSpPr>
            <a:cxnSpLocks/>
          </p:cNvCxnSpPr>
          <p:nvPr/>
        </p:nvCxnSpPr>
        <p:spPr>
          <a:xfrm>
            <a:off x="4857135" y="4393183"/>
            <a:ext cx="1165123" cy="0"/>
          </a:xfrm>
          <a:prstGeom prst="line">
            <a:avLst/>
          </a:prstGeom>
          <a:ln>
            <a:solidFill>
              <a:srgbClr val="000000">
                <a:alpha val="40000"/>
              </a:srgb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68329540-5FE0-C266-4668-119F691F63BA}"/>
              </a:ext>
            </a:extLst>
          </p:cNvPr>
          <p:cNvCxnSpPr>
            <a:cxnSpLocks/>
          </p:cNvCxnSpPr>
          <p:nvPr/>
        </p:nvCxnSpPr>
        <p:spPr>
          <a:xfrm>
            <a:off x="6037758" y="4393183"/>
            <a:ext cx="3544066" cy="0"/>
          </a:xfrm>
          <a:prstGeom prst="line">
            <a:avLst/>
          </a:prstGeom>
          <a:ln>
            <a:solidFill>
              <a:srgbClr val="0D0D0D">
                <a:alpha val="20000"/>
              </a:srgb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ADF11BCE-2D52-1561-0C22-3CFB56F7CF15}"/>
              </a:ext>
            </a:extLst>
          </p:cNvPr>
          <p:cNvCxnSpPr>
            <a:cxnSpLocks/>
          </p:cNvCxnSpPr>
          <p:nvPr/>
        </p:nvCxnSpPr>
        <p:spPr>
          <a:xfrm>
            <a:off x="9581824" y="4393183"/>
            <a:ext cx="452338" cy="0"/>
          </a:xfrm>
          <a:prstGeom prst="line">
            <a:avLst/>
          </a:prstGeom>
          <a:ln>
            <a:solidFill>
              <a:srgbClr val="000000">
                <a:alpha val="40000"/>
              </a:srgb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92000F75-7B8E-10CB-9A38-D131E8AE4C08}"/>
              </a:ext>
            </a:extLst>
          </p:cNvPr>
          <p:cNvSpPr txBox="1"/>
          <p:nvPr/>
        </p:nvSpPr>
        <p:spPr>
          <a:xfrm>
            <a:off x="8189356" y="3673709"/>
            <a:ext cx="2292458" cy="258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350"/>
              </a:lnSpc>
              <a:buNone/>
            </a:pPr>
            <a:r>
              <a:rPr lang="en-US" sz="900" dirty="0">
                <a:solidFill>
                  <a:schemeClr val="bg2">
                    <a:lumMod val="50000"/>
                  </a:schemeClr>
                </a:solidFill>
                <a:latin typeface="Century Gothic" panose="020B0502020202020204" pitchFamily="34" charset="0"/>
              </a:rPr>
              <a:t>XGBoost IID (0.466 QWK)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34D33475-FDFC-8109-1C59-234343594A89}"/>
              </a:ext>
            </a:extLst>
          </p:cNvPr>
          <p:cNvSpPr txBox="1"/>
          <p:nvPr/>
        </p:nvSpPr>
        <p:spPr>
          <a:xfrm>
            <a:off x="8189356" y="4131631"/>
            <a:ext cx="2292458" cy="258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350"/>
              </a:lnSpc>
              <a:buNone/>
            </a:pPr>
            <a:r>
              <a:rPr lang="en-US" sz="900" dirty="0">
                <a:solidFill>
                  <a:schemeClr val="bg2">
                    <a:lumMod val="50000"/>
                  </a:schemeClr>
                </a:solidFill>
                <a:latin typeface="Century Gothic" panose="020B0502020202020204" pitchFamily="34" charset="0"/>
              </a:rPr>
              <a:t>XGBoost OOD (0.336 QWK)</a:t>
            </a:r>
          </a:p>
        </p:txBody>
      </p:sp>
    </p:spTree>
    <p:extLst>
      <p:ext uri="{BB962C8B-B14F-4D97-AF65-F5344CB8AC3E}">
        <p14:creationId xmlns:p14="http://schemas.microsoft.com/office/powerpoint/2010/main" val="26523570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F6B90680-8848-BA32-8405-2BE95CC0754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9654" t="13075" r="4549" b="66234"/>
          <a:stretch>
            <a:fillRect/>
          </a:stretch>
        </p:blipFill>
        <p:spPr>
          <a:xfrm>
            <a:off x="8062543" y="5889074"/>
            <a:ext cx="1482928" cy="968926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5E029E2-797E-B4E0-171D-6C7AAC21C0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l="2335" t="10124" r="24857" b="5362"/>
          <a:stretch>
            <a:fillRect/>
          </a:stretch>
        </p:blipFill>
        <p:spPr>
          <a:xfrm>
            <a:off x="1589710" y="484155"/>
            <a:ext cx="9355001" cy="54168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3E2AF4E-51D1-5D59-E36A-905561E02577}"/>
              </a:ext>
            </a:extLst>
          </p:cNvPr>
          <p:cNvSpPr txBox="1"/>
          <p:nvPr/>
        </p:nvSpPr>
        <p:spPr>
          <a:xfrm rot="16200000">
            <a:off x="-1483094" y="2974074"/>
            <a:ext cx="52876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Century Gothic" panose="020B0502020202020204" pitchFamily="34" charset="0"/>
              </a:rPr>
              <a:t>Mean Quadratic Weighted Kappa (QWK)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9BAB18-82BA-3638-1F6E-62E13A994E9A}"/>
              </a:ext>
            </a:extLst>
          </p:cNvPr>
          <p:cNvSpPr txBox="1"/>
          <p:nvPr/>
        </p:nvSpPr>
        <p:spPr>
          <a:xfrm rot="16200000">
            <a:off x="-1277069" y="3004859"/>
            <a:ext cx="52876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entury Gothic" panose="020B0502020202020204" pitchFamily="34" charset="0"/>
              </a:rPr>
              <a:t>Across Datasets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43072C-AF3E-C8A9-16A5-4BBD1223EE1D}"/>
              </a:ext>
            </a:extLst>
          </p:cNvPr>
          <p:cNvSpPr txBox="1"/>
          <p:nvPr/>
        </p:nvSpPr>
        <p:spPr>
          <a:xfrm>
            <a:off x="1599648" y="5916375"/>
            <a:ext cx="93550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Century Gothic" panose="020B0502020202020204" pitchFamily="34" charset="0"/>
              </a:rPr>
              <a:t>Hidden Layers of Qwen3-4B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3A650F-D30B-CCB3-4BD2-5754F28C5121}"/>
              </a:ext>
            </a:extLst>
          </p:cNvPr>
          <p:cNvSpPr txBox="1"/>
          <p:nvPr/>
        </p:nvSpPr>
        <p:spPr>
          <a:xfrm>
            <a:off x="2370108" y="69573"/>
            <a:ext cx="7814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entury Gothic" panose="020B0502020202020204" pitchFamily="34" charset="0"/>
              </a:rPr>
              <a:t>Predictive </a:t>
            </a:r>
            <a:r>
              <a:rPr lang="en-US" sz="2000" dirty="0">
                <a:latin typeface="Century Gothic" panose="020B0502020202020204" pitchFamily="34" charset="0"/>
              </a:rPr>
              <a:t>Accuracy of Probes for Qwen3-4B</a:t>
            </a:r>
            <a:endParaRPr lang="en-US" dirty="0">
              <a:latin typeface="Century Gothic" panose="020B0502020202020204" pitchFamily="34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11134D0-7FF2-04F8-BCB4-2AF6521FFB8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9219" t="36003" r="1204" b="53274"/>
          <a:stretch>
            <a:fillRect/>
          </a:stretch>
        </p:blipFill>
        <p:spPr>
          <a:xfrm>
            <a:off x="9545471" y="5916375"/>
            <a:ext cx="1674347" cy="457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30563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2C6E204-2875-F878-FDF1-07378D910D7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24" t="7863" r="13356" b="5597"/>
          <a:stretch>
            <a:fillRect/>
          </a:stretch>
        </p:blipFill>
        <p:spPr>
          <a:xfrm>
            <a:off x="741125" y="2087118"/>
            <a:ext cx="5291666" cy="268376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3DADFE5-CA53-3561-10C4-B372F82D4ED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246" t="8892" r="14506" b="4567"/>
          <a:stretch>
            <a:fillRect/>
          </a:stretch>
        </p:blipFill>
        <p:spPr>
          <a:xfrm>
            <a:off x="6114817" y="2064986"/>
            <a:ext cx="5291667" cy="272802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A3A5360-2A78-6B5A-ECD1-58E8A90FCBE5}"/>
              </a:ext>
            </a:extLst>
          </p:cNvPr>
          <p:cNvSpPr txBox="1"/>
          <p:nvPr/>
        </p:nvSpPr>
        <p:spPr>
          <a:xfrm>
            <a:off x="1019614" y="4793013"/>
            <a:ext cx="50131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Century Gothic" panose="020B0502020202020204" pitchFamily="34" charset="0"/>
              </a:rPr>
              <a:t>Hidden Layers of Qwen3-4B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C248197-8FBD-A51A-B768-1870983EC860}"/>
              </a:ext>
            </a:extLst>
          </p:cNvPr>
          <p:cNvSpPr txBox="1"/>
          <p:nvPr/>
        </p:nvSpPr>
        <p:spPr>
          <a:xfrm>
            <a:off x="6114819" y="4793012"/>
            <a:ext cx="50131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Century Gothic" panose="020B0502020202020204" pitchFamily="34" charset="0"/>
              </a:rPr>
              <a:t>Hidden Layers of Qwen3-4B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5E4B50C-47E5-9435-6A8A-D3943BF5D9B2}"/>
              </a:ext>
            </a:extLst>
          </p:cNvPr>
          <p:cNvSpPr txBox="1"/>
          <p:nvPr/>
        </p:nvSpPr>
        <p:spPr>
          <a:xfrm rot="16200000">
            <a:off x="-731563" y="3298195"/>
            <a:ext cx="268376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entury Gothic" panose="020B0502020202020204" pitchFamily="34" charset="0"/>
              </a:rPr>
              <a:t>Quadratic Weighted Kappa (QWK)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51537CF-477A-5DC7-3B6E-1F1B98D513D4}"/>
              </a:ext>
            </a:extLst>
          </p:cNvPr>
          <p:cNvSpPr txBox="1"/>
          <p:nvPr/>
        </p:nvSpPr>
        <p:spPr>
          <a:xfrm>
            <a:off x="2188960" y="1384363"/>
            <a:ext cx="7814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entury Gothic" panose="020B0502020202020204" pitchFamily="34" charset="0"/>
              </a:rPr>
              <a:t>Quadratic Weighted Kappa of MLP Regression Probe on Qwen3-4B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D876514-CB45-BC37-542F-138A53367260}"/>
              </a:ext>
            </a:extLst>
          </p:cNvPr>
          <p:cNvGrpSpPr/>
          <p:nvPr/>
        </p:nvGrpSpPr>
        <p:grpSpPr>
          <a:xfrm>
            <a:off x="8971788" y="2185784"/>
            <a:ext cx="2351517" cy="530783"/>
            <a:chOff x="8790264" y="5147039"/>
            <a:chExt cx="2560387" cy="577929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EDEA3837-B7BB-C8AA-C023-F6CB9609DD00}"/>
                </a:ext>
              </a:extLst>
            </p:cNvPr>
            <p:cNvGrpSpPr/>
            <p:nvPr/>
          </p:nvGrpSpPr>
          <p:grpSpPr>
            <a:xfrm>
              <a:off x="8902174" y="5296249"/>
              <a:ext cx="2448477" cy="428719"/>
              <a:chOff x="5748410" y="5388160"/>
              <a:chExt cx="4287605" cy="750744"/>
            </a:xfrm>
          </p:grpSpPr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275ACE29-2BF1-FE11-2023-43B9B9AB822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l="89670" t="16496" r="994" b="73384"/>
              <a:stretch>
                <a:fillRect/>
              </a:stretch>
            </p:blipFill>
            <p:spPr>
              <a:xfrm>
                <a:off x="5748410" y="5388160"/>
                <a:ext cx="1394942" cy="750744"/>
              </a:xfrm>
              <a:prstGeom prst="rect">
                <a:avLst/>
              </a:prstGeom>
            </p:spPr>
          </p:pic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66907BD5-BAEE-889C-8218-09CFCD5D9C6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l="89670" t="37421" r="994" b="52953"/>
              <a:stretch>
                <a:fillRect/>
              </a:stretch>
            </p:blipFill>
            <p:spPr>
              <a:xfrm>
                <a:off x="8641074" y="5388160"/>
                <a:ext cx="1394941" cy="714168"/>
              </a:xfrm>
              <a:prstGeom prst="rect">
                <a:avLst/>
              </a:prstGeom>
            </p:spPr>
          </p:pic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CAEDC12B-3928-4E30-4AAF-31954E64AA7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l="89670" t="26982" r="994" b="63135"/>
              <a:stretch>
                <a:fillRect/>
              </a:stretch>
            </p:blipFill>
            <p:spPr>
              <a:xfrm>
                <a:off x="7200454" y="5388160"/>
                <a:ext cx="1394941" cy="733257"/>
              </a:xfrm>
              <a:prstGeom prst="rect">
                <a:avLst/>
              </a:prstGeom>
            </p:spPr>
          </p:pic>
        </p:grpSp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BB2C89EF-6BFF-21E0-71DB-97056212D3C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92354" t="12973" r="994" b="84050"/>
            <a:stretch>
              <a:fillRect/>
            </a:stretch>
          </p:blipFill>
          <p:spPr>
            <a:xfrm>
              <a:off x="8790263" y="5147038"/>
              <a:ext cx="671474" cy="149211"/>
            </a:xfrm>
            <a:prstGeom prst="rect">
              <a:avLst/>
            </a:prstGeom>
          </p:spPr>
        </p:pic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39553A8E-32B3-42AA-AC6C-7AC7616D0685}"/>
              </a:ext>
            </a:extLst>
          </p:cNvPr>
          <p:cNvSpPr txBox="1"/>
          <p:nvPr/>
        </p:nvSpPr>
        <p:spPr>
          <a:xfrm>
            <a:off x="1002736" y="1815249"/>
            <a:ext cx="4838261" cy="271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350"/>
              </a:lnSpc>
              <a:buNone/>
            </a:pPr>
            <a:r>
              <a:rPr lang="en-US" sz="1400" dirty="0">
                <a:latin typeface="Century Gothic" panose="020B0502020202020204" pitchFamily="34" charset="0"/>
              </a:rPr>
              <a:t>Identically Distributed (IID)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1E10C31-80B2-535D-954A-642360EEC142}"/>
              </a:ext>
            </a:extLst>
          </p:cNvPr>
          <p:cNvSpPr txBox="1"/>
          <p:nvPr/>
        </p:nvSpPr>
        <p:spPr>
          <a:xfrm>
            <a:off x="6472572" y="1793117"/>
            <a:ext cx="4838261" cy="271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350"/>
              </a:lnSpc>
              <a:buNone/>
            </a:pPr>
            <a:r>
              <a:rPr lang="en-US" sz="1400" dirty="0">
                <a:latin typeface="Century Gothic" panose="020B0502020202020204" pitchFamily="34" charset="0"/>
              </a:rPr>
              <a:t>Out-of-Distribution (OOD)</a:t>
            </a:r>
          </a:p>
        </p:txBody>
      </p:sp>
    </p:spTree>
    <p:extLst>
      <p:ext uri="{BB962C8B-B14F-4D97-AF65-F5344CB8AC3E}">
        <p14:creationId xmlns:p14="http://schemas.microsoft.com/office/powerpoint/2010/main" val="11076796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15AA37-D256-9FE0-0854-6D002DA679BE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346849" y="1785108"/>
            <a:ext cx="3164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lang="en-US" sz="2000" b="1" dirty="0">
                <a:latin typeface="Century Gothic" panose="020B0502020202020204" pitchFamily="34" charset="0"/>
              </a:rPr>
              <a:t>UniversalCEFR Data</a:t>
            </a:r>
            <a:endParaRPr lang="en-US" b="1" dirty="0">
              <a:latin typeface="Century Gothic" panose="020B0502020202020204" pitchFamily="34" charset="0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AC0AA150-17E9-9413-3107-7C58BEBAC7B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6238" y="1742944"/>
            <a:ext cx="431584" cy="401191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B2EFFB9-65A4-C22E-6641-E0B13B1B58D6}"/>
              </a:ext>
            </a:extLst>
          </p:cNvPr>
          <p:cNvSpPr/>
          <p:nvPr/>
        </p:nvSpPr>
        <p:spPr>
          <a:xfrm>
            <a:off x="225287" y="2152141"/>
            <a:ext cx="3286539" cy="269924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Tx/>
              <a:buChar char="-"/>
            </a:pPr>
            <a:r>
              <a:rPr lang="en-US" sz="1600" dirty="0">
                <a:latin typeface="Century Gothic" panose="020B0502020202020204" pitchFamily="34" charset="0"/>
              </a:rPr>
              <a:t>ZAEBUC, Arabic, n=209</a:t>
            </a:r>
          </a:p>
          <a:p>
            <a:pPr marL="285750" indent="-285750">
              <a:buFontTx/>
              <a:buChar char="-"/>
            </a:pPr>
            <a:r>
              <a:rPr lang="en-US" sz="1600" dirty="0">
                <a:latin typeface="Century Gothic" panose="020B0502020202020204" pitchFamily="34" charset="0"/>
              </a:rPr>
              <a:t>Merlin, Czech, n=439</a:t>
            </a:r>
          </a:p>
          <a:p>
            <a:pPr marL="285750" indent="-285750">
              <a:buFontTx/>
              <a:buChar char="-"/>
            </a:pPr>
            <a:r>
              <a:rPr lang="en-US" sz="1600" dirty="0">
                <a:latin typeface="Century Gothic" panose="020B0502020202020204" pitchFamily="34" charset="0"/>
              </a:rPr>
              <a:t>CEFR-ASAG, English, n=299</a:t>
            </a:r>
          </a:p>
          <a:p>
            <a:pPr marL="285750" indent="-285750">
              <a:buFontTx/>
              <a:buChar char="-"/>
            </a:pPr>
            <a:r>
              <a:rPr lang="en-US" sz="1600" dirty="0">
                <a:latin typeface="Century Gothic" panose="020B0502020202020204" pitchFamily="34" charset="0"/>
              </a:rPr>
              <a:t>ICLE500, English, n=488</a:t>
            </a:r>
          </a:p>
          <a:p>
            <a:pPr marL="285750" indent="-285750">
              <a:buFontTx/>
              <a:buChar char="-"/>
            </a:pPr>
            <a:r>
              <a:rPr lang="en-US" sz="1600" dirty="0">
                <a:latin typeface="Century Gothic" panose="020B0502020202020204" pitchFamily="34" charset="0"/>
              </a:rPr>
              <a:t>ELLE, Estonian, n=1352</a:t>
            </a:r>
          </a:p>
          <a:p>
            <a:pPr marL="285750" indent="-285750">
              <a:buFontTx/>
              <a:buChar char="-"/>
            </a:pPr>
            <a:r>
              <a:rPr lang="en-US" sz="1600" dirty="0">
                <a:latin typeface="Century Gothic" panose="020B0502020202020204" pitchFamily="34" charset="0"/>
              </a:rPr>
              <a:t>Merlin, German, n=1033</a:t>
            </a:r>
          </a:p>
          <a:p>
            <a:pPr marL="285750" indent="-285750">
              <a:buFontTx/>
              <a:buChar char="-"/>
            </a:pPr>
            <a:r>
              <a:rPr lang="en-US" sz="1600" dirty="0">
                <a:latin typeface="Century Gothic" panose="020B0502020202020204" pitchFamily="34" charset="0"/>
              </a:rPr>
              <a:t>Merlin, Italian, n=806</a:t>
            </a:r>
          </a:p>
          <a:p>
            <a:pPr marL="285750" indent="-285750">
              <a:buFontTx/>
              <a:buChar char="-"/>
            </a:pPr>
            <a:r>
              <a:rPr lang="en-US" sz="1600" dirty="0">
                <a:latin typeface="Century Gothic" panose="020B0502020202020204" pitchFamily="34" charset="0"/>
              </a:rPr>
              <a:t>COPLE2, Portuguese, n=942</a:t>
            </a:r>
          </a:p>
          <a:p>
            <a:pPr marL="285750" indent="-285750">
              <a:buFontTx/>
              <a:buChar char="-"/>
            </a:pPr>
            <a:r>
              <a:rPr lang="en-US" sz="1600" dirty="0">
                <a:latin typeface="Century Gothic" panose="020B0502020202020204" pitchFamily="34" charset="0"/>
              </a:rPr>
              <a:t>PEAPL2, Portuguese, n=481</a:t>
            </a: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B6D948EC-DF43-949A-3B08-AC1420B290E3}"/>
              </a:ext>
            </a:extLst>
          </p:cNvPr>
          <p:cNvGrpSpPr/>
          <p:nvPr/>
        </p:nvGrpSpPr>
        <p:grpSpPr>
          <a:xfrm>
            <a:off x="225826" y="5003192"/>
            <a:ext cx="3286539" cy="1683338"/>
            <a:chOff x="225287" y="4995758"/>
            <a:chExt cx="3286539" cy="1683338"/>
          </a:xfrm>
        </p:grpSpPr>
        <p:sp>
          <p:nvSpPr>
            <p:cNvPr id="15" name="Content Placeholder 3">
              <a:extLst>
                <a:ext uri="{FF2B5EF4-FFF2-40B4-BE49-F238E27FC236}">
                  <a16:creationId xmlns:a16="http://schemas.microsoft.com/office/drawing/2014/main" id="{595E8F19-7041-0318-3D25-D3C17B3252E9}"/>
                </a:ext>
              </a:extLst>
            </p:cNvPr>
            <p:cNvSpPr txBox="1">
              <a:spLocks/>
            </p:cNvSpPr>
            <p:nvPr/>
          </p:nvSpPr>
          <p:spPr>
            <a:xfrm>
              <a:off x="225287" y="4995758"/>
              <a:ext cx="3286539" cy="369332"/>
            </a:xfrm>
            <a:prstGeom prst="rect">
              <a:avLst/>
            </a:prstGeom>
            <a:noFill/>
          </p:spPr>
          <p:txBody>
            <a:bodyPr vert="horz" wrap="square" lIns="91440" tIns="45720" rIns="91440" bIns="45720" rtlCol="0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Font typeface="Arial" panose="020B0604020202020204" pitchFamily="34" charset="0"/>
                <a:buNone/>
              </a:pPr>
              <a:r>
                <a:rPr lang="en-US" sz="2000" b="1" dirty="0">
                  <a:latin typeface="Century Gothic" panose="020B0502020202020204" pitchFamily="34" charset="0"/>
                </a:rPr>
                <a:t>Embedding Probes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DCA5CED1-2D80-C576-399A-2B2D57B60D04}"/>
                </a:ext>
              </a:extLst>
            </p:cNvPr>
            <p:cNvSpPr/>
            <p:nvPr/>
          </p:nvSpPr>
          <p:spPr>
            <a:xfrm>
              <a:off x="225287" y="5365090"/>
              <a:ext cx="3286539" cy="131400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171450" indent="-171450">
                <a:buFontTx/>
                <a:buChar char="-"/>
              </a:pPr>
              <a:r>
                <a:rPr lang="en-US" sz="1600" dirty="0">
                  <a:latin typeface="Century Gothic" panose="020B0502020202020204" pitchFamily="34" charset="0"/>
                </a:rPr>
                <a:t>Linear Regression</a:t>
              </a:r>
            </a:p>
            <a:p>
              <a:pPr marL="171450" indent="-171450">
                <a:buFontTx/>
                <a:buChar char="-"/>
              </a:pPr>
              <a:r>
                <a:rPr lang="en-US" sz="1600" dirty="0">
                  <a:latin typeface="Century Gothic" panose="020B0502020202020204" pitchFamily="34" charset="0"/>
                </a:rPr>
                <a:t>Ordinal Regression</a:t>
              </a:r>
            </a:p>
            <a:p>
              <a:pPr marL="171450" indent="-171450">
                <a:buFontTx/>
                <a:buChar char="-"/>
              </a:pPr>
              <a:r>
                <a:rPr lang="en-US" sz="1600" dirty="0">
                  <a:latin typeface="Century Gothic" panose="020B0502020202020204" pitchFamily="34" charset="0"/>
                </a:rPr>
                <a:t>MLP Regression </a:t>
              </a:r>
            </a:p>
            <a:p>
              <a:pPr marL="171450" indent="-171450">
                <a:buFontTx/>
                <a:buChar char="-"/>
              </a:pPr>
              <a:r>
                <a:rPr lang="en-US" sz="1600" dirty="0">
                  <a:latin typeface="Century Gothic" panose="020B0502020202020204" pitchFamily="34" charset="0"/>
                </a:rPr>
                <a:t>Logistic Regression</a:t>
              </a:r>
            </a:p>
            <a:p>
              <a:pPr marL="171450" indent="-171450">
                <a:buFontTx/>
                <a:buChar char="-"/>
              </a:pPr>
              <a:r>
                <a:rPr lang="en-US" sz="1600" dirty="0">
                  <a:latin typeface="Century Gothic" panose="020B0502020202020204" pitchFamily="34" charset="0"/>
                </a:rPr>
                <a:t>MLP Classifier</a:t>
              </a:r>
            </a:p>
          </p:txBody>
        </p:sp>
      </p:grp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AE60279-E7F9-25C8-07E3-8711844F5803}"/>
              </a:ext>
            </a:extLst>
          </p:cNvPr>
          <p:cNvCxnSpPr>
            <a:cxnSpLocks/>
          </p:cNvCxnSpPr>
          <p:nvPr/>
        </p:nvCxnSpPr>
        <p:spPr>
          <a:xfrm>
            <a:off x="4183238" y="3501763"/>
            <a:ext cx="474487" cy="0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5E2DC23B-9EE6-4905-8DDC-772D5DEBF164}"/>
              </a:ext>
            </a:extLst>
          </p:cNvPr>
          <p:cNvSpPr txBox="1">
            <a:spLocks/>
          </p:cNvSpPr>
          <p:nvPr/>
        </p:nvSpPr>
        <p:spPr>
          <a:xfrm>
            <a:off x="226238" y="318995"/>
            <a:ext cx="3286539" cy="369332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000" b="1" dirty="0">
                <a:latin typeface="Century Gothic" panose="020B0502020202020204" pitchFamily="34" charset="0"/>
              </a:rPr>
              <a:t>Language Models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E576ECE-C0A8-E687-53FD-8CC66317DCDB}"/>
              </a:ext>
            </a:extLst>
          </p:cNvPr>
          <p:cNvSpPr/>
          <p:nvPr/>
        </p:nvSpPr>
        <p:spPr>
          <a:xfrm>
            <a:off x="226238" y="677154"/>
            <a:ext cx="3286539" cy="95005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171450" indent="-171450">
              <a:buFontTx/>
              <a:buChar char="-"/>
            </a:pPr>
            <a:r>
              <a:rPr lang="en-US" sz="1600" dirty="0">
                <a:latin typeface="Century Gothic" panose="020B0502020202020204" pitchFamily="34" charset="0"/>
              </a:rPr>
              <a:t>Qwen3-Embedding-0.6B</a:t>
            </a:r>
          </a:p>
          <a:p>
            <a:pPr marL="171450" indent="-171450">
              <a:buFontTx/>
              <a:buChar char="-"/>
            </a:pPr>
            <a:r>
              <a:rPr lang="en-US" sz="1600" dirty="0">
                <a:latin typeface="Century Gothic" panose="020B0502020202020204" pitchFamily="34" charset="0"/>
              </a:rPr>
              <a:t>Qwen3-Embedding-4B</a:t>
            </a:r>
          </a:p>
          <a:p>
            <a:pPr marL="171450" indent="-171450">
              <a:buFontTx/>
              <a:buChar char="-"/>
            </a:pPr>
            <a:r>
              <a:rPr lang="en-US" sz="1600" dirty="0">
                <a:latin typeface="Century Gothic" panose="020B0502020202020204" pitchFamily="34" charset="0"/>
              </a:rPr>
              <a:t>Qwen3-Embedding-8B</a:t>
            </a:r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91205448-529F-B038-501E-B9E3EA84ECE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6238" y="275963"/>
            <a:ext cx="431584" cy="401191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36D3219-2BFA-D51D-29E7-5305309D1F8C}"/>
              </a:ext>
            </a:extLst>
          </p:cNvPr>
          <p:cNvCxnSpPr/>
          <p:nvPr/>
        </p:nvCxnSpPr>
        <p:spPr>
          <a:xfrm flipV="1">
            <a:off x="3507377" y="1156559"/>
            <a:ext cx="675861" cy="210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D884B6E-E339-B285-18A2-CD2C05728913}"/>
              </a:ext>
            </a:extLst>
          </p:cNvPr>
          <p:cNvCxnSpPr/>
          <p:nvPr/>
        </p:nvCxnSpPr>
        <p:spPr>
          <a:xfrm flipV="1">
            <a:off x="3507377" y="6026336"/>
            <a:ext cx="675861" cy="210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5391A95-0E00-A65B-46BC-314FEE60F65B}"/>
              </a:ext>
            </a:extLst>
          </p:cNvPr>
          <p:cNvCxnSpPr>
            <a:cxnSpLocks/>
          </p:cNvCxnSpPr>
          <p:nvPr/>
        </p:nvCxnSpPr>
        <p:spPr>
          <a:xfrm>
            <a:off x="4176887" y="1152179"/>
            <a:ext cx="0" cy="488368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51" name="Group 50">
            <a:extLst>
              <a:ext uri="{FF2B5EF4-FFF2-40B4-BE49-F238E27FC236}">
                <a16:creationId xmlns:a16="http://schemas.microsoft.com/office/drawing/2014/main" id="{C3D786EC-F438-B5BE-C39B-3E0F4F220C19}"/>
              </a:ext>
            </a:extLst>
          </p:cNvPr>
          <p:cNvGrpSpPr/>
          <p:nvPr/>
        </p:nvGrpSpPr>
        <p:grpSpPr>
          <a:xfrm>
            <a:off x="4850065" y="1671918"/>
            <a:ext cx="3521041" cy="3323840"/>
            <a:chOff x="4674688" y="1671918"/>
            <a:chExt cx="3521041" cy="3323840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49A1078E-0891-69DA-9826-12824AB8381B}"/>
                </a:ext>
              </a:extLst>
            </p:cNvPr>
            <p:cNvSpPr/>
            <p:nvPr/>
          </p:nvSpPr>
          <p:spPr>
            <a:xfrm>
              <a:off x="4674688" y="2032424"/>
              <a:ext cx="3521041" cy="296333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en-US" sz="1600" dirty="0">
                <a:latin typeface="Century Gothic" panose="020B0502020202020204" pitchFamily="34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E011DEA-F0A9-90A2-7003-33CCE99C3D86}"/>
                </a:ext>
              </a:extLst>
            </p:cNvPr>
            <p:cNvSpPr/>
            <p:nvPr/>
          </p:nvSpPr>
          <p:spPr>
            <a:xfrm>
              <a:off x="4892752" y="2498809"/>
              <a:ext cx="3054624" cy="694971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latin typeface="Century Gothic" panose="020B0502020202020204" pitchFamily="34" charset="0"/>
                </a:rPr>
                <a:t>Validate performance on 20% hold-out data</a:t>
              </a:r>
            </a:p>
          </p:txBody>
        </p:sp>
        <p:sp>
          <p:nvSpPr>
            <p:cNvPr id="9" name="Content Placeholder 3">
              <a:extLst>
                <a:ext uri="{FF2B5EF4-FFF2-40B4-BE49-F238E27FC236}">
                  <a16:creationId xmlns:a16="http://schemas.microsoft.com/office/drawing/2014/main" id="{E0F92BE0-37A1-7E3F-3F78-360AF9EF6518}"/>
                </a:ext>
              </a:extLst>
            </p:cNvPr>
            <p:cNvSpPr txBox="1">
              <a:spLocks/>
            </p:cNvSpPr>
            <p:nvPr/>
          </p:nvSpPr>
          <p:spPr>
            <a:xfrm>
              <a:off x="4892752" y="2156922"/>
              <a:ext cx="3054624" cy="341632"/>
            </a:xfrm>
            <a:prstGeom prst="rect">
              <a:avLst/>
            </a:prstGeom>
            <a:noFill/>
          </p:spPr>
          <p:txBody>
            <a:bodyPr vert="horz" wrap="square" lIns="91440" tIns="45720" rIns="91440" bIns="45720" rtlCol="0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Font typeface="Arial" panose="020B0604020202020204" pitchFamily="34" charset="0"/>
                <a:buNone/>
              </a:pPr>
              <a:r>
                <a:rPr lang="en-US" sz="1800" i="1" dirty="0">
                  <a:latin typeface="Century Gothic" panose="020B0502020202020204" pitchFamily="34" charset="0"/>
                </a:rPr>
                <a:t>Identically Distributed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3C17D21-35F9-E30E-CBDE-636867C5EF93}"/>
                </a:ext>
              </a:extLst>
            </p:cNvPr>
            <p:cNvSpPr/>
            <p:nvPr/>
          </p:nvSpPr>
          <p:spPr>
            <a:xfrm>
              <a:off x="4892752" y="3850053"/>
              <a:ext cx="3054626" cy="694971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latin typeface="Century Gothic" panose="020B0502020202020204" pitchFamily="34" charset="0"/>
                </a:rPr>
                <a:t>Validate performance on leave-one-out dataset.</a:t>
              </a:r>
            </a:p>
          </p:txBody>
        </p:sp>
        <p:sp>
          <p:nvSpPr>
            <p:cNvPr id="11" name="Content Placeholder 3">
              <a:extLst>
                <a:ext uri="{FF2B5EF4-FFF2-40B4-BE49-F238E27FC236}">
                  <a16:creationId xmlns:a16="http://schemas.microsoft.com/office/drawing/2014/main" id="{24B6485C-27F5-9B36-BED6-E6DA41A45708}"/>
                </a:ext>
              </a:extLst>
            </p:cNvPr>
            <p:cNvSpPr txBox="1">
              <a:spLocks/>
            </p:cNvSpPr>
            <p:nvPr/>
          </p:nvSpPr>
          <p:spPr>
            <a:xfrm>
              <a:off x="4909684" y="3517395"/>
              <a:ext cx="3054625" cy="341632"/>
            </a:xfrm>
            <a:prstGeom prst="rect">
              <a:avLst/>
            </a:prstGeom>
            <a:noFill/>
          </p:spPr>
          <p:txBody>
            <a:bodyPr vert="horz" wrap="square" lIns="91440" tIns="45720" rIns="91440" bIns="45720" rtlCol="0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Font typeface="Arial" panose="020B0604020202020204" pitchFamily="34" charset="0"/>
                <a:buNone/>
              </a:pPr>
              <a:r>
                <a:rPr lang="en-US" sz="1800" i="1" dirty="0">
                  <a:latin typeface="Century Gothic" panose="020B0502020202020204" pitchFamily="34" charset="0"/>
                </a:rPr>
                <a:t>Out-of-Distribution</a:t>
              </a:r>
            </a:p>
          </p:txBody>
        </p:sp>
        <p:sp>
          <p:nvSpPr>
            <p:cNvPr id="45" name="Content Placeholder 3">
              <a:extLst>
                <a:ext uri="{FF2B5EF4-FFF2-40B4-BE49-F238E27FC236}">
                  <a16:creationId xmlns:a16="http://schemas.microsoft.com/office/drawing/2014/main" id="{AFC422D3-58E8-C1B5-4414-37454279E15F}"/>
                </a:ext>
              </a:extLst>
            </p:cNvPr>
            <p:cNvSpPr txBox="1">
              <a:spLocks/>
            </p:cNvSpPr>
            <p:nvPr/>
          </p:nvSpPr>
          <p:spPr>
            <a:xfrm>
              <a:off x="4791938" y="1671918"/>
              <a:ext cx="3286539" cy="369332"/>
            </a:xfrm>
            <a:prstGeom prst="rect">
              <a:avLst/>
            </a:prstGeom>
            <a:noFill/>
          </p:spPr>
          <p:txBody>
            <a:bodyPr vert="horz" wrap="square" lIns="91440" tIns="45720" rIns="91440" bIns="45720" rtlCol="0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Font typeface="Arial" panose="020B0604020202020204" pitchFamily="34" charset="0"/>
                <a:buNone/>
              </a:pPr>
              <a:r>
                <a:rPr lang="en-US" sz="2000" b="1" dirty="0">
                  <a:latin typeface="Century Gothic" panose="020B0502020202020204" pitchFamily="34" charset="0"/>
                </a:rPr>
                <a:t>Validation Conditions</a:t>
              </a:r>
              <a:endParaRPr lang="en-US" b="1" dirty="0">
                <a:latin typeface="Century Gothic" panose="020B0502020202020204" pitchFamily="34" charset="0"/>
              </a:endParaRPr>
            </a:p>
          </p:txBody>
        </p:sp>
      </p:grp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0E5A2C78-D9A0-241F-9589-7CA2EDCB6716}"/>
              </a:ext>
            </a:extLst>
          </p:cNvPr>
          <p:cNvCxnSpPr>
            <a:cxnSpLocks/>
          </p:cNvCxnSpPr>
          <p:nvPr/>
        </p:nvCxnSpPr>
        <p:spPr>
          <a:xfrm>
            <a:off x="8371106" y="3411275"/>
            <a:ext cx="530007" cy="0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833CEC7-7F50-FC37-BF25-DB3A7677D37F}"/>
              </a:ext>
            </a:extLst>
          </p:cNvPr>
          <p:cNvGrpSpPr/>
          <p:nvPr/>
        </p:nvGrpSpPr>
        <p:grpSpPr>
          <a:xfrm>
            <a:off x="4853147" y="5201297"/>
            <a:ext cx="3286539" cy="1492210"/>
            <a:chOff x="225287" y="4995758"/>
            <a:chExt cx="3286539" cy="1492210"/>
          </a:xfrm>
        </p:grpSpPr>
        <p:sp>
          <p:nvSpPr>
            <p:cNvPr id="31" name="Content Placeholder 3">
              <a:extLst>
                <a:ext uri="{FF2B5EF4-FFF2-40B4-BE49-F238E27FC236}">
                  <a16:creationId xmlns:a16="http://schemas.microsoft.com/office/drawing/2014/main" id="{3863182C-BE13-5B89-19AD-F5A86906B3B3}"/>
                </a:ext>
              </a:extLst>
            </p:cNvPr>
            <p:cNvSpPr txBox="1">
              <a:spLocks/>
            </p:cNvSpPr>
            <p:nvPr/>
          </p:nvSpPr>
          <p:spPr>
            <a:xfrm>
              <a:off x="225287" y="4995758"/>
              <a:ext cx="3286539" cy="369332"/>
            </a:xfrm>
            <a:prstGeom prst="rect">
              <a:avLst/>
            </a:prstGeom>
            <a:noFill/>
          </p:spPr>
          <p:txBody>
            <a:bodyPr vert="horz" wrap="square" lIns="91440" tIns="45720" rIns="91440" bIns="45720" rtlCol="0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2000" b="1" dirty="0">
                  <a:latin typeface="Century Gothic" panose="020B0502020202020204" pitchFamily="34" charset="0"/>
                </a:rPr>
                <a:t>XGBoost Baseline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2F65D0DB-62D0-4C8A-56C0-F996058B4882}"/>
                </a:ext>
              </a:extLst>
            </p:cNvPr>
            <p:cNvSpPr/>
            <p:nvPr/>
          </p:nvSpPr>
          <p:spPr>
            <a:xfrm>
              <a:off x="225287" y="5365090"/>
              <a:ext cx="3286539" cy="1122878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1600" dirty="0">
                  <a:latin typeface="Century Gothic" panose="020B0502020202020204" pitchFamily="34" charset="0"/>
                </a:rPr>
                <a:t>XGBoost with features:</a:t>
              </a:r>
            </a:p>
            <a:p>
              <a:pPr marL="285750" indent="-285750">
                <a:buFontTx/>
                <a:buChar char="-"/>
              </a:pPr>
              <a:r>
                <a:rPr lang="en-US" sz="1600" dirty="0">
                  <a:latin typeface="Century Gothic" panose="020B0502020202020204" pitchFamily="34" charset="0"/>
                </a:rPr>
                <a:t>Document Length</a:t>
              </a:r>
            </a:p>
            <a:p>
              <a:pPr marL="285750" indent="-285750">
                <a:buFontTx/>
                <a:buChar char="-"/>
              </a:pPr>
              <a:r>
                <a:rPr lang="en-US" sz="1600" dirty="0">
                  <a:latin typeface="Century Gothic" panose="020B0502020202020204" pitchFamily="34" charset="0"/>
                </a:rPr>
                <a:t>Average Sentence Length</a:t>
              </a:r>
            </a:p>
            <a:p>
              <a:pPr marL="285750" indent="-285750">
                <a:buFontTx/>
                <a:buChar char="-"/>
              </a:pPr>
              <a:r>
                <a:rPr lang="en-US" sz="1600" dirty="0">
                  <a:latin typeface="Century Gothic" panose="020B0502020202020204" pitchFamily="34" charset="0"/>
                </a:rPr>
                <a:t>Average Word Length</a:t>
              </a:r>
            </a:p>
          </p:txBody>
        </p:sp>
      </p:grp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A730C18-AB44-85E5-B41C-311034FAE946}"/>
              </a:ext>
            </a:extLst>
          </p:cNvPr>
          <p:cNvCxnSpPr/>
          <p:nvPr/>
        </p:nvCxnSpPr>
        <p:spPr>
          <a:xfrm flipV="1">
            <a:off x="3512777" y="3500708"/>
            <a:ext cx="675861" cy="210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63733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637B89C-30F5-F93C-6211-23A64B4850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291933"/>
            <a:ext cx="10476854" cy="740347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4B087C1-0EF5-49E6-92F8-AA5834FC2D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6711" y="3432996"/>
            <a:ext cx="1776310" cy="270972"/>
          </a:xfrm>
          <a:prstGeom prst="rect">
            <a:avLst/>
          </a:prstGeom>
        </p:spPr>
      </p:pic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E4CB8C7C-4319-42C0-01C6-26EF2FD4C160}"/>
              </a:ext>
            </a:extLst>
          </p:cNvPr>
          <p:cNvSpPr txBox="1">
            <a:spLocks/>
          </p:cNvSpPr>
          <p:nvPr/>
        </p:nvSpPr>
        <p:spPr>
          <a:xfrm>
            <a:off x="4471233" y="3462898"/>
            <a:ext cx="2388517" cy="300082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500" i="1" dirty="0">
                <a:latin typeface="Century Gothic" panose="020B0502020202020204" pitchFamily="34" charset="0"/>
              </a:rPr>
              <a:t>Out-of-Distribution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C9981B6-3EBE-F61E-DFD4-408C68FAD33E}"/>
              </a:ext>
            </a:extLst>
          </p:cNvPr>
          <p:cNvGrpSpPr/>
          <p:nvPr/>
        </p:nvGrpSpPr>
        <p:grpSpPr>
          <a:xfrm>
            <a:off x="7714638" y="1425503"/>
            <a:ext cx="4228404" cy="3657600"/>
            <a:chOff x="6744282" y="1850721"/>
            <a:chExt cx="4228404" cy="3657600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31A3812A-41EE-CA1F-886E-A26EEC193D1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744282" y="1850721"/>
              <a:ext cx="4228404" cy="3657600"/>
            </a:xfrm>
            <a:prstGeom prst="rect">
              <a:avLst/>
            </a:prstGeom>
            <a:ln w="19050">
              <a:solidFill>
                <a:schemeClr val="tx1"/>
              </a:solidFill>
            </a:ln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30951A43-8214-6F1F-026D-B1BB786A45A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2947" t="9081" r="38874"/>
            <a:stretch>
              <a:fillRect/>
            </a:stretch>
          </p:blipFill>
          <p:spPr>
            <a:xfrm>
              <a:off x="7068853" y="1987858"/>
              <a:ext cx="3711603" cy="3480189"/>
            </a:xfrm>
            <a:prstGeom prst="rect">
              <a:avLst/>
            </a:prstGeom>
          </p:spPr>
        </p:pic>
        <p:sp>
          <p:nvSpPr>
            <p:cNvPr id="14" name="Content Placeholder 3">
              <a:extLst>
                <a:ext uri="{FF2B5EF4-FFF2-40B4-BE49-F238E27FC236}">
                  <a16:creationId xmlns:a16="http://schemas.microsoft.com/office/drawing/2014/main" id="{2DE367D0-DEB6-45CC-8F51-504D2F74FBBD}"/>
                </a:ext>
              </a:extLst>
            </p:cNvPr>
            <p:cNvSpPr txBox="1">
              <a:spLocks/>
            </p:cNvSpPr>
            <p:nvPr/>
          </p:nvSpPr>
          <p:spPr>
            <a:xfrm>
              <a:off x="7278092" y="3835024"/>
              <a:ext cx="1244868" cy="203133"/>
            </a:xfrm>
            <a:prstGeom prst="rect">
              <a:avLst/>
            </a:prstGeom>
            <a:noFill/>
          </p:spPr>
          <p:txBody>
            <a:bodyPr vert="horz" wrap="square" lIns="91440" tIns="45720" rIns="91440" bIns="45720" rtlCol="0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Font typeface="Arial" panose="020B0604020202020204" pitchFamily="34" charset="0"/>
                <a:buNone/>
              </a:pPr>
              <a:r>
                <a:rPr lang="en-US" sz="800" i="1" dirty="0">
                  <a:solidFill>
                    <a:schemeClr val="bg2">
                      <a:lumMod val="50000"/>
                    </a:schemeClr>
                  </a:solidFill>
                  <a:latin typeface="Century Gothic" panose="020B0502020202020204" pitchFamily="34" charset="0"/>
                </a:rPr>
                <a:t>XGBoost (0.466)</a:t>
              </a:r>
            </a:p>
          </p:txBody>
        </p:sp>
        <p:sp>
          <p:nvSpPr>
            <p:cNvPr id="19" name="Content Placeholder 3">
              <a:extLst>
                <a:ext uri="{FF2B5EF4-FFF2-40B4-BE49-F238E27FC236}">
                  <a16:creationId xmlns:a16="http://schemas.microsoft.com/office/drawing/2014/main" id="{FE3FA00B-8814-1A54-36A7-8F5BC4CB6B0C}"/>
                </a:ext>
              </a:extLst>
            </p:cNvPr>
            <p:cNvSpPr txBox="1">
              <a:spLocks/>
            </p:cNvSpPr>
            <p:nvPr/>
          </p:nvSpPr>
          <p:spPr>
            <a:xfrm>
              <a:off x="8522960" y="4175294"/>
              <a:ext cx="1244868" cy="203133"/>
            </a:xfrm>
            <a:prstGeom prst="rect">
              <a:avLst/>
            </a:prstGeom>
            <a:noFill/>
          </p:spPr>
          <p:txBody>
            <a:bodyPr vert="horz" wrap="square" lIns="91440" tIns="45720" rIns="91440" bIns="45720" rtlCol="0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Font typeface="Arial" panose="020B0604020202020204" pitchFamily="34" charset="0"/>
                <a:buNone/>
              </a:pPr>
              <a:r>
                <a:rPr lang="en-US" sz="800" i="1" dirty="0">
                  <a:solidFill>
                    <a:schemeClr val="bg2">
                      <a:lumMod val="50000"/>
                    </a:schemeClr>
                  </a:solidFill>
                  <a:latin typeface="Century Gothic" panose="020B0502020202020204" pitchFamily="34" charset="0"/>
                </a:rPr>
                <a:t>XGBoost (0.336)</a:t>
              </a:r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FEB6072D-9218-7B5A-3EAF-CD15BF776A60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75320" t="12579" r="13095" b="77883"/>
          <a:stretch>
            <a:fillRect/>
          </a:stretch>
        </p:blipFill>
        <p:spPr>
          <a:xfrm>
            <a:off x="11126610" y="1425503"/>
            <a:ext cx="816432" cy="403297"/>
          </a:xfrm>
          <a:prstGeom prst="rect">
            <a:avLst/>
          </a:prstGeom>
        </p:spPr>
      </p:pic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581A4D6D-0D62-95C7-5015-EED62714C39D}"/>
              </a:ext>
            </a:extLst>
          </p:cNvPr>
          <p:cNvSpPr txBox="1">
            <a:spLocks/>
          </p:cNvSpPr>
          <p:nvPr/>
        </p:nvSpPr>
        <p:spPr>
          <a:xfrm>
            <a:off x="8185570" y="1101888"/>
            <a:ext cx="3286539" cy="323615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70" b="1" dirty="0">
                <a:latin typeface="Century Gothic" panose="020B0502020202020204" pitchFamily="34" charset="0"/>
              </a:rPr>
              <a:t>Significant Performance Drop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53D414C-2265-8367-0805-25FF384E824F}"/>
              </a:ext>
            </a:extLst>
          </p:cNvPr>
          <p:cNvSpPr txBox="1"/>
          <p:nvPr/>
        </p:nvSpPr>
        <p:spPr>
          <a:xfrm rot="16200000">
            <a:off x="5192476" y="3123496"/>
            <a:ext cx="528761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Century Gothic" panose="020B0502020202020204" pitchFamily="34" charset="0"/>
              </a:rPr>
              <a:t>Quadratic Weighted Kappa (QWK)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70A4992-A642-9138-4496-0D06B95D60D3}"/>
              </a:ext>
            </a:extLst>
          </p:cNvPr>
          <p:cNvSpPr txBox="1"/>
          <p:nvPr/>
        </p:nvSpPr>
        <p:spPr>
          <a:xfrm rot="16200000">
            <a:off x="6137201" y="3130100"/>
            <a:ext cx="364002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solidFill>
                  <a:schemeClr val="bg2">
                    <a:lumMod val="50000"/>
                  </a:schemeClr>
                </a:solidFill>
                <a:latin typeface="Century Gothic" panose="020B0502020202020204" pitchFamily="34" charset="0"/>
              </a:rPr>
              <a:t>Across combinations of probe and layer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8B6D314-0C48-F213-E457-FC65E8AF754F}"/>
              </a:ext>
            </a:extLst>
          </p:cNvPr>
          <p:cNvSpPr/>
          <p:nvPr/>
        </p:nvSpPr>
        <p:spPr>
          <a:xfrm>
            <a:off x="4190258" y="5370855"/>
            <a:ext cx="2950406" cy="7348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Tx/>
              <a:buChar char="-"/>
            </a:pPr>
            <a:r>
              <a:rPr lang="en-US" sz="1400" dirty="0">
                <a:latin typeface="Century Gothic" panose="020B0502020202020204" pitchFamily="34" charset="0"/>
              </a:rPr>
              <a:t>Document Length</a:t>
            </a:r>
          </a:p>
          <a:p>
            <a:pPr marL="285750" indent="-285750">
              <a:buFontTx/>
              <a:buChar char="-"/>
            </a:pPr>
            <a:r>
              <a:rPr lang="en-US" sz="1380" dirty="0">
                <a:latin typeface="Century Gothic" panose="020B0502020202020204" pitchFamily="34" charset="0"/>
              </a:rPr>
              <a:t>Average Sentence Length</a:t>
            </a:r>
          </a:p>
          <a:p>
            <a:pPr marL="285750" indent="-285750">
              <a:buFontTx/>
              <a:buChar char="-"/>
            </a:pPr>
            <a:r>
              <a:rPr lang="en-US" sz="1400" dirty="0">
                <a:latin typeface="Century Gothic" panose="020B0502020202020204" pitchFamily="34" charset="0"/>
              </a:rPr>
              <a:t>Average Word Length</a:t>
            </a:r>
          </a:p>
        </p:txBody>
      </p:sp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4ED27337-CD12-FF3B-6849-0646EF10EC05}"/>
              </a:ext>
            </a:extLst>
          </p:cNvPr>
          <p:cNvSpPr txBox="1">
            <a:spLocks/>
          </p:cNvSpPr>
          <p:nvPr/>
        </p:nvSpPr>
        <p:spPr>
          <a:xfrm>
            <a:off x="4190259" y="5065530"/>
            <a:ext cx="2950406" cy="323615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70" b="1" dirty="0">
                <a:latin typeface="Century Gothic" panose="020B0502020202020204" pitchFamily="34" charset="0"/>
              </a:rPr>
              <a:t>XGBoost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B394C1DC-EF6B-A192-5BA7-E8D6DD6B0A81}"/>
              </a:ext>
            </a:extLst>
          </p:cNvPr>
          <p:cNvCxnSpPr>
            <a:cxnSpLocks/>
          </p:cNvCxnSpPr>
          <p:nvPr/>
        </p:nvCxnSpPr>
        <p:spPr>
          <a:xfrm flipV="1">
            <a:off x="5665462" y="4774323"/>
            <a:ext cx="0" cy="320040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AB01F9CA-10BC-4154-3805-AD35B28F406D}"/>
              </a:ext>
            </a:extLst>
          </p:cNvPr>
          <p:cNvSpPr txBox="1"/>
          <p:nvPr/>
        </p:nvSpPr>
        <p:spPr>
          <a:xfrm>
            <a:off x="7705478" y="5104165"/>
            <a:ext cx="423756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solidFill>
                  <a:schemeClr val="bg2">
                    <a:lumMod val="50000"/>
                  </a:schemeClr>
                </a:solidFill>
                <a:latin typeface="Century Gothic" panose="020B0502020202020204" pitchFamily="34" charset="0"/>
              </a:rPr>
              <a:t>Violin plot showing performance distribution of each trained model.</a:t>
            </a:r>
          </a:p>
        </p:txBody>
      </p:sp>
    </p:spTree>
    <p:extLst>
      <p:ext uri="{BB962C8B-B14F-4D97-AF65-F5344CB8AC3E}">
        <p14:creationId xmlns:p14="http://schemas.microsoft.com/office/powerpoint/2010/main" val="3190373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6B51899-C836-D343-D530-6495C7BD34B0}"/>
              </a:ext>
            </a:extLst>
          </p:cNvPr>
          <p:cNvSpPr/>
          <p:nvPr/>
        </p:nvSpPr>
        <p:spPr>
          <a:xfrm>
            <a:off x="4660669" y="1650804"/>
            <a:ext cx="3117047" cy="99240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entury Gothic" panose="020B0502020202020204" pitchFamily="34" charset="0"/>
              </a:rPr>
              <a:t>Large Language Model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ED5378E-C288-58E0-62C0-1C6989F1C6C7}"/>
              </a:ext>
            </a:extLst>
          </p:cNvPr>
          <p:cNvSpPr/>
          <p:nvPr/>
        </p:nvSpPr>
        <p:spPr>
          <a:xfrm>
            <a:off x="4660669" y="362771"/>
            <a:ext cx="3117047" cy="99240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entury Gothic" panose="020B0502020202020204" pitchFamily="34" charset="0"/>
              </a:rPr>
              <a:t>Training Data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AEE06E3-7A5A-DFA7-B93F-C84E37A3E167}"/>
              </a:ext>
            </a:extLst>
          </p:cNvPr>
          <p:cNvSpPr/>
          <p:nvPr/>
        </p:nvSpPr>
        <p:spPr>
          <a:xfrm>
            <a:off x="8024677" y="4226373"/>
            <a:ext cx="3117047" cy="992408"/>
          </a:xfrm>
          <a:prstGeom prst="rect">
            <a:avLst/>
          </a:prstGeom>
          <a:solidFill>
            <a:srgbClr val="FABB00">
              <a:alpha val="54118"/>
            </a:srgb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entury Gothic" panose="020B0502020202020204" pitchFamily="34" charset="0"/>
              </a:rPr>
              <a:t>Probe Training Data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79FF67E-06E5-B06B-27CC-7F5F93F16053}"/>
              </a:ext>
            </a:extLst>
          </p:cNvPr>
          <p:cNvSpPr/>
          <p:nvPr/>
        </p:nvSpPr>
        <p:spPr>
          <a:xfrm>
            <a:off x="1110268" y="362771"/>
            <a:ext cx="3278477" cy="992408"/>
          </a:xfrm>
          <a:prstGeom prst="rect">
            <a:avLst/>
          </a:prstGeom>
          <a:solidFill>
            <a:srgbClr val="D9F2D0">
              <a:alpha val="52941"/>
            </a:srgbClr>
          </a:solidFill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entury Gothic" panose="020B0502020202020204" pitchFamily="34" charset="0"/>
              </a:rPr>
              <a:t>Training Data Bias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899B159-D439-3F25-880E-7039CB958E0F}"/>
              </a:ext>
            </a:extLst>
          </p:cNvPr>
          <p:cNvSpPr/>
          <p:nvPr/>
        </p:nvSpPr>
        <p:spPr>
          <a:xfrm>
            <a:off x="1110268" y="1650804"/>
            <a:ext cx="3278477" cy="992408"/>
          </a:xfrm>
          <a:prstGeom prst="rect">
            <a:avLst/>
          </a:prstGeom>
          <a:solidFill>
            <a:srgbClr val="D9F2D0">
              <a:alpha val="52941"/>
            </a:srgbClr>
          </a:solidFill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entury Gothic" panose="020B0502020202020204" pitchFamily="34" charset="0"/>
              </a:rPr>
              <a:t>LLM Architecture Bias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E97452B-0C86-EC1A-2B55-7AFED2CE88DF}"/>
              </a:ext>
            </a:extLst>
          </p:cNvPr>
          <p:cNvSpPr/>
          <p:nvPr/>
        </p:nvSpPr>
        <p:spPr>
          <a:xfrm>
            <a:off x="8024677" y="2938338"/>
            <a:ext cx="3117047" cy="992408"/>
          </a:xfrm>
          <a:prstGeom prst="rect">
            <a:avLst/>
          </a:prstGeom>
          <a:solidFill>
            <a:srgbClr val="FABB00">
              <a:alpha val="23922"/>
            </a:srgbClr>
          </a:solidFill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entury Gothic" panose="020B0502020202020204" pitchFamily="34" charset="0"/>
              </a:rPr>
              <a:t>Probe Data Bias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AC5B2F3-54CC-70BE-F29C-213DB8FEBF14}"/>
              </a:ext>
            </a:extLst>
          </p:cNvPr>
          <p:cNvSpPr/>
          <p:nvPr/>
        </p:nvSpPr>
        <p:spPr>
          <a:xfrm>
            <a:off x="4660669" y="4226373"/>
            <a:ext cx="3117047" cy="992408"/>
          </a:xfrm>
          <a:prstGeom prst="rect">
            <a:avLst/>
          </a:prstGeom>
          <a:solidFill>
            <a:srgbClr val="655A9F">
              <a:alpha val="43000"/>
            </a:srgb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entury Gothic" panose="020B0502020202020204" pitchFamily="34" charset="0"/>
              </a:rPr>
              <a:t>Probe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3836AFC-C87C-7461-9271-F17F6B529FA9}"/>
              </a:ext>
            </a:extLst>
          </p:cNvPr>
          <p:cNvSpPr/>
          <p:nvPr/>
        </p:nvSpPr>
        <p:spPr>
          <a:xfrm>
            <a:off x="4660669" y="5514406"/>
            <a:ext cx="3117047" cy="992408"/>
          </a:xfrm>
          <a:prstGeom prst="rect">
            <a:avLst/>
          </a:prstGeom>
          <a:solidFill>
            <a:srgbClr val="E2001A">
              <a:alpha val="42000"/>
            </a:srgb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entury Gothic" panose="020B0502020202020204" pitchFamily="34" charset="0"/>
              </a:rPr>
              <a:t>Prediction Error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C7D1383-53FC-7071-D111-7A1BAC574329}"/>
              </a:ext>
            </a:extLst>
          </p:cNvPr>
          <p:cNvCxnSpPr>
            <a:stCxn id="9" idx="3"/>
            <a:endCxn id="7" idx="1"/>
          </p:cNvCxnSpPr>
          <p:nvPr/>
        </p:nvCxnSpPr>
        <p:spPr>
          <a:xfrm>
            <a:off x="4388746" y="858976"/>
            <a:ext cx="27192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2026BFC-CAD5-0154-2AC2-3A351751D100}"/>
              </a:ext>
            </a:extLst>
          </p:cNvPr>
          <p:cNvCxnSpPr>
            <a:cxnSpLocks/>
            <a:stCxn id="7" idx="2"/>
            <a:endCxn id="5" idx="0"/>
          </p:cNvCxnSpPr>
          <p:nvPr/>
        </p:nvCxnSpPr>
        <p:spPr>
          <a:xfrm>
            <a:off x="6219193" y="1355179"/>
            <a:ext cx="0" cy="2956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0AB3358-BD39-5B92-F218-9935AC3FECE0}"/>
              </a:ext>
            </a:extLst>
          </p:cNvPr>
          <p:cNvCxnSpPr>
            <a:cxnSpLocks/>
            <a:stCxn id="5" idx="2"/>
            <a:endCxn id="12" idx="0"/>
          </p:cNvCxnSpPr>
          <p:nvPr/>
        </p:nvCxnSpPr>
        <p:spPr>
          <a:xfrm>
            <a:off x="6219193" y="2643212"/>
            <a:ext cx="0" cy="15831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D0FBBF9-6BF8-1A58-A545-1A84C29FB694}"/>
              </a:ext>
            </a:extLst>
          </p:cNvPr>
          <p:cNvCxnSpPr/>
          <p:nvPr/>
        </p:nvCxnSpPr>
        <p:spPr>
          <a:xfrm>
            <a:off x="4388746" y="2166395"/>
            <a:ext cx="27192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F9E6FD1-8714-0EA2-BA75-71FA94676BB5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9583201" y="3930746"/>
            <a:ext cx="0" cy="2956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50E8C217-7164-4E8F-8B31-D2A586FF7F8C}"/>
              </a:ext>
            </a:extLst>
          </p:cNvPr>
          <p:cNvCxnSpPr>
            <a:cxnSpLocks/>
          </p:cNvCxnSpPr>
          <p:nvPr/>
        </p:nvCxnSpPr>
        <p:spPr>
          <a:xfrm>
            <a:off x="6219193" y="5218779"/>
            <a:ext cx="0" cy="2956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EDBEC616-48A2-75F5-05DA-FDB17B0A543F}"/>
              </a:ext>
            </a:extLst>
          </p:cNvPr>
          <p:cNvCxnSpPr>
            <a:cxnSpLocks/>
            <a:stCxn id="8" idx="1"/>
            <a:endCxn id="12" idx="3"/>
          </p:cNvCxnSpPr>
          <p:nvPr/>
        </p:nvCxnSpPr>
        <p:spPr>
          <a:xfrm flipH="1">
            <a:off x="7777716" y="4722577"/>
            <a:ext cx="24696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6A2480DB-9A57-D9DC-E53F-B4F1DACC8262}"/>
              </a:ext>
            </a:extLst>
          </p:cNvPr>
          <p:cNvSpPr/>
          <p:nvPr/>
        </p:nvSpPr>
        <p:spPr>
          <a:xfrm>
            <a:off x="8024677" y="5514406"/>
            <a:ext cx="3117047" cy="992408"/>
          </a:xfrm>
          <a:prstGeom prst="rect">
            <a:avLst/>
          </a:prstGeom>
          <a:solidFill>
            <a:srgbClr val="FABB00">
              <a:alpha val="54118"/>
            </a:srgb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entury Gothic" panose="020B0502020202020204" pitchFamily="34" charset="0"/>
              </a:rPr>
              <a:t>Probe Test Data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F9FB726A-2690-EE56-F9A8-1537C1A4C85E}"/>
              </a:ext>
            </a:extLst>
          </p:cNvPr>
          <p:cNvCxnSpPr>
            <a:cxnSpLocks/>
          </p:cNvCxnSpPr>
          <p:nvPr/>
        </p:nvCxnSpPr>
        <p:spPr>
          <a:xfrm flipH="1">
            <a:off x="7777716" y="6010609"/>
            <a:ext cx="24696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545D6087-BC22-D0D9-9586-498503A134AA}"/>
              </a:ext>
            </a:extLst>
          </p:cNvPr>
          <p:cNvCxnSpPr>
            <a:cxnSpLocks/>
          </p:cNvCxnSpPr>
          <p:nvPr/>
        </p:nvCxnSpPr>
        <p:spPr>
          <a:xfrm flipH="1">
            <a:off x="11141724" y="6010609"/>
            <a:ext cx="246961" cy="0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4FECD7D7-60F6-5821-5BDB-27FB849F3C2B}"/>
              </a:ext>
            </a:extLst>
          </p:cNvPr>
          <p:cNvCxnSpPr>
            <a:cxnSpLocks/>
          </p:cNvCxnSpPr>
          <p:nvPr/>
        </p:nvCxnSpPr>
        <p:spPr>
          <a:xfrm flipH="1">
            <a:off x="11141724" y="3427487"/>
            <a:ext cx="246961" cy="0"/>
          </a:xfrm>
          <a:prstGeom prst="straightConnector1">
            <a:avLst/>
          </a:prstGeom>
          <a:ln>
            <a:prstDash val="sysDot"/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60E1A640-D67F-9D83-ED76-67AD87B4C23E}"/>
              </a:ext>
            </a:extLst>
          </p:cNvPr>
          <p:cNvCxnSpPr>
            <a:cxnSpLocks/>
          </p:cNvCxnSpPr>
          <p:nvPr/>
        </p:nvCxnSpPr>
        <p:spPr>
          <a:xfrm>
            <a:off x="11420458" y="3427487"/>
            <a:ext cx="0" cy="2583122"/>
          </a:xfrm>
          <a:prstGeom prst="straightConnector1">
            <a:avLst/>
          </a:prstGeom>
          <a:ln>
            <a:prstDash val="sysDot"/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6" name="Rectangle 55">
            <a:extLst>
              <a:ext uri="{FF2B5EF4-FFF2-40B4-BE49-F238E27FC236}">
                <a16:creationId xmlns:a16="http://schemas.microsoft.com/office/drawing/2014/main" id="{5967F94C-576A-9AF4-0872-132F083583C0}"/>
              </a:ext>
            </a:extLst>
          </p:cNvPr>
          <p:cNvSpPr/>
          <p:nvPr/>
        </p:nvSpPr>
        <p:spPr>
          <a:xfrm>
            <a:off x="8890618" y="455536"/>
            <a:ext cx="210708" cy="20707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57" name="Content Placeholder 3">
            <a:extLst>
              <a:ext uri="{FF2B5EF4-FFF2-40B4-BE49-F238E27FC236}">
                <a16:creationId xmlns:a16="http://schemas.microsoft.com/office/drawing/2014/main" id="{EAC3BF6E-1B94-E07E-BFEA-B8C64DC2852C}"/>
              </a:ext>
            </a:extLst>
          </p:cNvPr>
          <p:cNvSpPr txBox="1">
            <a:spLocks/>
          </p:cNvSpPr>
          <p:nvPr/>
        </p:nvSpPr>
        <p:spPr>
          <a:xfrm>
            <a:off x="9101326" y="425531"/>
            <a:ext cx="3054625" cy="1363450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dirty="0">
                <a:latin typeface="Century Gothic" panose="020B0502020202020204" pitchFamily="34" charset="0"/>
              </a:rPr>
              <a:t>= Large Language Model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dirty="0">
                <a:latin typeface="Century Gothic" panose="020B0502020202020204" pitchFamily="34" charset="0"/>
              </a:rPr>
              <a:t>= Probe Architecture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dirty="0">
                <a:latin typeface="Century Gothic" panose="020B0502020202020204" pitchFamily="34" charset="0"/>
              </a:rPr>
              <a:t>= Data Distribution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dirty="0">
                <a:latin typeface="Century Gothic" panose="020B0502020202020204" pitchFamily="34" charset="0"/>
              </a:rPr>
              <a:t>= All Variables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9C385FEA-41EB-B10C-A04A-ADD42A10C4DA}"/>
              </a:ext>
            </a:extLst>
          </p:cNvPr>
          <p:cNvSpPr/>
          <p:nvPr/>
        </p:nvSpPr>
        <p:spPr>
          <a:xfrm>
            <a:off x="8890618" y="805966"/>
            <a:ext cx="210708" cy="207073"/>
          </a:xfrm>
          <a:prstGeom prst="rect">
            <a:avLst/>
          </a:prstGeom>
          <a:solidFill>
            <a:srgbClr val="655A9F">
              <a:alpha val="43000"/>
            </a:srgb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D36A9FD5-E173-56F1-2DBE-D32B48959B8D}"/>
              </a:ext>
            </a:extLst>
          </p:cNvPr>
          <p:cNvSpPr/>
          <p:nvPr/>
        </p:nvSpPr>
        <p:spPr>
          <a:xfrm>
            <a:off x="8890618" y="1156396"/>
            <a:ext cx="210708" cy="207073"/>
          </a:xfrm>
          <a:prstGeom prst="rect">
            <a:avLst/>
          </a:prstGeom>
          <a:solidFill>
            <a:srgbClr val="FABB00">
              <a:alpha val="54118"/>
            </a:srgb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9A25FBBB-1834-9FD5-7A54-E393B677CEEC}"/>
              </a:ext>
            </a:extLst>
          </p:cNvPr>
          <p:cNvSpPr/>
          <p:nvPr/>
        </p:nvSpPr>
        <p:spPr>
          <a:xfrm>
            <a:off x="8890618" y="1502992"/>
            <a:ext cx="210708" cy="207073"/>
          </a:xfrm>
          <a:prstGeom prst="rect">
            <a:avLst/>
          </a:prstGeom>
          <a:solidFill>
            <a:srgbClr val="E2001A">
              <a:alpha val="42000"/>
            </a:srgb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82042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2C6D35-4119-E455-876F-E402CE7BE0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43E09F5-BA74-9A10-BEEB-9E62110BF67B}"/>
              </a:ext>
            </a:extLst>
          </p:cNvPr>
          <p:cNvSpPr/>
          <p:nvPr/>
        </p:nvSpPr>
        <p:spPr>
          <a:xfrm>
            <a:off x="4660669" y="1650804"/>
            <a:ext cx="3117047" cy="99240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entury Gothic" panose="020B0502020202020204" pitchFamily="34" charset="0"/>
              </a:rPr>
              <a:t>Large Language Model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1059DBB-199E-E6E4-DB68-E789D61C7AF9}"/>
              </a:ext>
            </a:extLst>
          </p:cNvPr>
          <p:cNvSpPr/>
          <p:nvPr/>
        </p:nvSpPr>
        <p:spPr>
          <a:xfrm>
            <a:off x="4660669" y="362771"/>
            <a:ext cx="3117047" cy="99240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entury Gothic" panose="020B0502020202020204" pitchFamily="34" charset="0"/>
              </a:rPr>
              <a:t>Training Data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F2E7D84-0F21-F3B3-29D9-88EF3DB9252D}"/>
              </a:ext>
            </a:extLst>
          </p:cNvPr>
          <p:cNvSpPr/>
          <p:nvPr/>
        </p:nvSpPr>
        <p:spPr>
          <a:xfrm>
            <a:off x="8024677" y="4226373"/>
            <a:ext cx="3117047" cy="992408"/>
          </a:xfrm>
          <a:prstGeom prst="rect">
            <a:avLst/>
          </a:prstGeom>
          <a:solidFill>
            <a:srgbClr val="FABB00">
              <a:alpha val="54118"/>
            </a:srgb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entury Gothic" panose="020B0502020202020204" pitchFamily="34" charset="0"/>
              </a:rPr>
              <a:t>Probe Training Data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51A86B2-8EED-9905-279A-34B0C8DE3F0E}"/>
              </a:ext>
            </a:extLst>
          </p:cNvPr>
          <p:cNvSpPr/>
          <p:nvPr/>
        </p:nvSpPr>
        <p:spPr>
          <a:xfrm>
            <a:off x="1110268" y="362771"/>
            <a:ext cx="3278477" cy="992408"/>
          </a:xfrm>
          <a:prstGeom prst="rect">
            <a:avLst/>
          </a:prstGeom>
          <a:solidFill>
            <a:srgbClr val="D9F2D0">
              <a:alpha val="52941"/>
            </a:srgbClr>
          </a:solidFill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entury Gothic" panose="020B0502020202020204" pitchFamily="34" charset="0"/>
              </a:rPr>
              <a:t>Training Data Bias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7A9C98A-EFC6-9C14-6097-C8465EF91B36}"/>
              </a:ext>
            </a:extLst>
          </p:cNvPr>
          <p:cNvSpPr/>
          <p:nvPr/>
        </p:nvSpPr>
        <p:spPr>
          <a:xfrm>
            <a:off x="1110268" y="1650804"/>
            <a:ext cx="3278477" cy="992408"/>
          </a:xfrm>
          <a:prstGeom prst="rect">
            <a:avLst/>
          </a:prstGeom>
          <a:solidFill>
            <a:srgbClr val="D9F2D0">
              <a:alpha val="52941"/>
            </a:srgbClr>
          </a:solidFill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entury Gothic" panose="020B0502020202020204" pitchFamily="34" charset="0"/>
              </a:rPr>
              <a:t>LLM Architecture Bias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CE5940A-3974-5791-7FE9-9C067BD05AFF}"/>
              </a:ext>
            </a:extLst>
          </p:cNvPr>
          <p:cNvSpPr/>
          <p:nvPr/>
        </p:nvSpPr>
        <p:spPr>
          <a:xfrm>
            <a:off x="8024677" y="2938338"/>
            <a:ext cx="3117047" cy="992408"/>
          </a:xfrm>
          <a:prstGeom prst="rect">
            <a:avLst/>
          </a:prstGeom>
          <a:solidFill>
            <a:srgbClr val="FABB00">
              <a:alpha val="23922"/>
            </a:srgbClr>
          </a:solidFill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entury Gothic" panose="020B0502020202020204" pitchFamily="34" charset="0"/>
              </a:rPr>
              <a:t>Corpus Topic Confound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3E08648-E8F8-885B-D766-CC39E040E1C9}"/>
              </a:ext>
            </a:extLst>
          </p:cNvPr>
          <p:cNvSpPr/>
          <p:nvPr/>
        </p:nvSpPr>
        <p:spPr>
          <a:xfrm>
            <a:off x="4660669" y="4226373"/>
            <a:ext cx="3117047" cy="992408"/>
          </a:xfrm>
          <a:prstGeom prst="rect">
            <a:avLst/>
          </a:prstGeom>
          <a:solidFill>
            <a:srgbClr val="655A9F">
              <a:alpha val="43000"/>
            </a:srgb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entury Gothic" panose="020B0502020202020204" pitchFamily="34" charset="0"/>
              </a:rPr>
              <a:t>Probe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7CBC2D6-C43A-EBA7-822B-FA3A13B7D80A}"/>
              </a:ext>
            </a:extLst>
          </p:cNvPr>
          <p:cNvSpPr/>
          <p:nvPr/>
        </p:nvSpPr>
        <p:spPr>
          <a:xfrm>
            <a:off x="4660669" y="5514406"/>
            <a:ext cx="3117047" cy="992408"/>
          </a:xfrm>
          <a:prstGeom prst="rect">
            <a:avLst/>
          </a:prstGeom>
          <a:solidFill>
            <a:srgbClr val="E2001A">
              <a:alpha val="42000"/>
            </a:srgb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entury Gothic" panose="020B0502020202020204" pitchFamily="34" charset="0"/>
              </a:rPr>
              <a:t>Prediction Error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00BC281-E1A0-E034-CF74-9799CECBCB25}"/>
              </a:ext>
            </a:extLst>
          </p:cNvPr>
          <p:cNvSpPr/>
          <p:nvPr/>
        </p:nvSpPr>
        <p:spPr>
          <a:xfrm>
            <a:off x="1110267" y="4226373"/>
            <a:ext cx="3278477" cy="992408"/>
          </a:xfrm>
          <a:prstGeom prst="rect">
            <a:avLst/>
          </a:prstGeom>
          <a:solidFill>
            <a:srgbClr val="655A9F">
              <a:alpha val="21747"/>
            </a:srgbClr>
          </a:solidFill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entury Gothic" panose="020B0502020202020204" pitchFamily="34" charset="0"/>
              </a:rPr>
              <a:t>Probe Architecture Bias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A39793-5BAC-8B23-61A7-90038631FBE5}"/>
              </a:ext>
            </a:extLst>
          </p:cNvPr>
          <p:cNvSpPr/>
          <p:nvPr/>
        </p:nvSpPr>
        <p:spPr>
          <a:xfrm>
            <a:off x="1110268" y="2938338"/>
            <a:ext cx="3278476" cy="992408"/>
          </a:xfrm>
          <a:prstGeom prst="rect">
            <a:avLst/>
          </a:prstGeom>
          <a:solidFill>
            <a:srgbClr val="D9F2D0">
              <a:alpha val="52941"/>
            </a:srgbClr>
          </a:solidFill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entury Gothic" panose="020B0502020202020204" pitchFamily="34" charset="0"/>
              </a:rPr>
              <a:t>LLM Bias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41444C9-6EB6-7AC4-B167-02B02F7CAC62}"/>
              </a:ext>
            </a:extLst>
          </p:cNvPr>
          <p:cNvCxnSpPr>
            <a:stCxn id="9" idx="3"/>
            <a:endCxn id="7" idx="1"/>
          </p:cNvCxnSpPr>
          <p:nvPr/>
        </p:nvCxnSpPr>
        <p:spPr>
          <a:xfrm>
            <a:off x="4388746" y="858976"/>
            <a:ext cx="27192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A757E2F-0B97-275F-C103-B1F47CACFEB9}"/>
              </a:ext>
            </a:extLst>
          </p:cNvPr>
          <p:cNvCxnSpPr>
            <a:cxnSpLocks/>
            <a:stCxn id="7" idx="2"/>
            <a:endCxn id="5" idx="0"/>
          </p:cNvCxnSpPr>
          <p:nvPr/>
        </p:nvCxnSpPr>
        <p:spPr>
          <a:xfrm>
            <a:off x="6219193" y="1355179"/>
            <a:ext cx="0" cy="2956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5FC008F-D319-4876-A03B-BE5E894EF704}"/>
              </a:ext>
            </a:extLst>
          </p:cNvPr>
          <p:cNvCxnSpPr>
            <a:cxnSpLocks/>
            <a:stCxn id="5" idx="2"/>
            <a:endCxn id="12" idx="0"/>
          </p:cNvCxnSpPr>
          <p:nvPr/>
        </p:nvCxnSpPr>
        <p:spPr>
          <a:xfrm>
            <a:off x="6219193" y="2643212"/>
            <a:ext cx="0" cy="15831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F53F4A7-2B3B-6CED-C286-1AF47AD66587}"/>
              </a:ext>
            </a:extLst>
          </p:cNvPr>
          <p:cNvCxnSpPr/>
          <p:nvPr/>
        </p:nvCxnSpPr>
        <p:spPr>
          <a:xfrm>
            <a:off x="4388746" y="2166395"/>
            <a:ext cx="27192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14A14B8-F20B-2E7A-89F0-99EFF5A3FEC2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9583201" y="3930746"/>
            <a:ext cx="0" cy="2956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2AC067E6-23A9-4546-029E-A210D1B2EE8B}"/>
              </a:ext>
            </a:extLst>
          </p:cNvPr>
          <p:cNvCxnSpPr>
            <a:cxnSpLocks/>
          </p:cNvCxnSpPr>
          <p:nvPr/>
        </p:nvCxnSpPr>
        <p:spPr>
          <a:xfrm>
            <a:off x="6219193" y="5218779"/>
            <a:ext cx="0" cy="2956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64A6034-A789-8217-EDA3-3756E33D058C}"/>
              </a:ext>
            </a:extLst>
          </p:cNvPr>
          <p:cNvCxnSpPr/>
          <p:nvPr/>
        </p:nvCxnSpPr>
        <p:spPr>
          <a:xfrm>
            <a:off x="4388744" y="4716431"/>
            <a:ext cx="27192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81972BFC-D465-E449-55AD-03772B519CD7}"/>
              </a:ext>
            </a:extLst>
          </p:cNvPr>
          <p:cNvCxnSpPr>
            <a:cxnSpLocks/>
            <a:stCxn id="8" idx="1"/>
            <a:endCxn id="12" idx="3"/>
          </p:cNvCxnSpPr>
          <p:nvPr/>
        </p:nvCxnSpPr>
        <p:spPr>
          <a:xfrm flipH="1">
            <a:off x="7777716" y="4722577"/>
            <a:ext cx="24696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8E21C877-B970-5DA5-8038-8BD21104F242}"/>
              </a:ext>
            </a:extLst>
          </p:cNvPr>
          <p:cNvCxnSpPr>
            <a:cxnSpLocks/>
          </p:cNvCxnSpPr>
          <p:nvPr/>
        </p:nvCxnSpPr>
        <p:spPr>
          <a:xfrm flipH="1">
            <a:off x="4401225" y="3427487"/>
            <a:ext cx="181796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D8FB54F6-1CBD-4467-B620-E2250963750E}"/>
              </a:ext>
            </a:extLst>
          </p:cNvPr>
          <p:cNvSpPr/>
          <p:nvPr/>
        </p:nvSpPr>
        <p:spPr>
          <a:xfrm>
            <a:off x="8024677" y="5514406"/>
            <a:ext cx="3117047" cy="992408"/>
          </a:xfrm>
          <a:prstGeom prst="rect">
            <a:avLst/>
          </a:prstGeom>
          <a:solidFill>
            <a:srgbClr val="FABB00">
              <a:alpha val="54118"/>
            </a:srgb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entury Gothic" panose="020B0502020202020204" pitchFamily="34" charset="0"/>
              </a:rPr>
              <a:t>Probe Test Data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AE06F24B-3445-0E98-4821-E06EBD835EA2}"/>
              </a:ext>
            </a:extLst>
          </p:cNvPr>
          <p:cNvCxnSpPr>
            <a:cxnSpLocks/>
          </p:cNvCxnSpPr>
          <p:nvPr/>
        </p:nvCxnSpPr>
        <p:spPr>
          <a:xfrm flipH="1">
            <a:off x="7777716" y="6010609"/>
            <a:ext cx="24696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B4C7AAAE-4449-5229-2A25-6FD430EF9DCC}"/>
              </a:ext>
            </a:extLst>
          </p:cNvPr>
          <p:cNvCxnSpPr>
            <a:cxnSpLocks/>
          </p:cNvCxnSpPr>
          <p:nvPr/>
        </p:nvCxnSpPr>
        <p:spPr>
          <a:xfrm flipH="1">
            <a:off x="11141724" y="6010609"/>
            <a:ext cx="246961" cy="0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883374B7-A2EC-5F00-D50A-72A678412DF4}"/>
              </a:ext>
            </a:extLst>
          </p:cNvPr>
          <p:cNvCxnSpPr>
            <a:cxnSpLocks/>
          </p:cNvCxnSpPr>
          <p:nvPr/>
        </p:nvCxnSpPr>
        <p:spPr>
          <a:xfrm flipH="1">
            <a:off x="11141724" y="3427487"/>
            <a:ext cx="246961" cy="0"/>
          </a:xfrm>
          <a:prstGeom prst="straightConnector1">
            <a:avLst/>
          </a:prstGeom>
          <a:ln>
            <a:prstDash val="sysDot"/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9F822BE3-AF69-B1E1-36ED-0DB9A54CA9CE}"/>
              </a:ext>
            </a:extLst>
          </p:cNvPr>
          <p:cNvCxnSpPr>
            <a:cxnSpLocks/>
          </p:cNvCxnSpPr>
          <p:nvPr/>
        </p:nvCxnSpPr>
        <p:spPr>
          <a:xfrm>
            <a:off x="11420458" y="3427487"/>
            <a:ext cx="0" cy="2583122"/>
          </a:xfrm>
          <a:prstGeom prst="straightConnector1">
            <a:avLst/>
          </a:prstGeom>
          <a:ln>
            <a:prstDash val="sysDot"/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6" name="Rectangle 55">
            <a:extLst>
              <a:ext uri="{FF2B5EF4-FFF2-40B4-BE49-F238E27FC236}">
                <a16:creationId xmlns:a16="http://schemas.microsoft.com/office/drawing/2014/main" id="{299C18C4-D301-F711-C32B-95C98DAD8DD9}"/>
              </a:ext>
            </a:extLst>
          </p:cNvPr>
          <p:cNvSpPr/>
          <p:nvPr/>
        </p:nvSpPr>
        <p:spPr>
          <a:xfrm>
            <a:off x="8890618" y="455536"/>
            <a:ext cx="210708" cy="20707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57" name="Content Placeholder 3">
            <a:extLst>
              <a:ext uri="{FF2B5EF4-FFF2-40B4-BE49-F238E27FC236}">
                <a16:creationId xmlns:a16="http://schemas.microsoft.com/office/drawing/2014/main" id="{3EA09210-21C4-48EF-8146-C8FBED4EEC02}"/>
              </a:ext>
            </a:extLst>
          </p:cNvPr>
          <p:cNvSpPr txBox="1">
            <a:spLocks/>
          </p:cNvSpPr>
          <p:nvPr/>
        </p:nvSpPr>
        <p:spPr>
          <a:xfrm>
            <a:off x="9101326" y="425531"/>
            <a:ext cx="3054625" cy="1363450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dirty="0">
                <a:latin typeface="Century Gothic" panose="020B0502020202020204" pitchFamily="34" charset="0"/>
              </a:rPr>
              <a:t>= Large Language Model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dirty="0">
                <a:latin typeface="Century Gothic" panose="020B0502020202020204" pitchFamily="34" charset="0"/>
              </a:rPr>
              <a:t>= Probe Architecture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dirty="0">
                <a:latin typeface="Century Gothic" panose="020B0502020202020204" pitchFamily="34" charset="0"/>
              </a:rPr>
              <a:t>= Data Distribution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dirty="0">
                <a:latin typeface="Century Gothic" panose="020B0502020202020204" pitchFamily="34" charset="0"/>
              </a:rPr>
              <a:t>= All Variables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DD367EF0-AAA6-3F53-2BA1-370E4A0BE33F}"/>
              </a:ext>
            </a:extLst>
          </p:cNvPr>
          <p:cNvSpPr/>
          <p:nvPr/>
        </p:nvSpPr>
        <p:spPr>
          <a:xfrm>
            <a:off x="8890618" y="805966"/>
            <a:ext cx="210708" cy="207073"/>
          </a:xfrm>
          <a:prstGeom prst="rect">
            <a:avLst/>
          </a:prstGeom>
          <a:solidFill>
            <a:srgbClr val="655A9F">
              <a:alpha val="43000"/>
            </a:srgb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D57C9A6A-DA2B-F421-FEBC-2B7076B51839}"/>
              </a:ext>
            </a:extLst>
          </p:cNvPr>
          <p:cNvSpPr/>
          <p:nvPr/>
        </p:nvSpPr>
        <p:spPr>
          <a:xfrm>
            <a:off x="8890618" y="1156396"/>
            <a:ext cx="210708" cy="207073"/>
          </a:xfrm>
          <a:prstGeom prst="rect">
            <a:avLst/>
          </a:prstGeom>
          <a:solidFill>
            <a:srgbClr val="FABB00">
              <a:alpha val="54118"/>
            </a:srgb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4FB57D17-59B1-B187-47DB-6413E18781EE}"/>
              </a:ext>
            </a:extLst>
          </p:cNvPr>
          <p:cNvSpPr/>
          <p:nvPr/>
        </p:nvSpPr>
        <p:spPr>
          <a:xfrm>
            <a:off x="8890618" y="1502992"/>
            <a:ext cx="210708" cy="207073"/>
          </a:xfrm>
          <a:prstGeom prst="rect">
            <a:avLst/>
          </a:prstGeom>
          <a:solidFill>
            <a:srgbClr val="E2001A">
              <a:alpha val="42000"/>
            </a:srgb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83216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Picture 53">
            <a:extLst>
              <a:ext uri="{FF2B5EF4-FFF2-40B4-BE49-F238E27FC236}">
                <a16:creationId xmlns:a16="http://schemas.microsoft.com/office/drawing/2014/main" id="{BAE2CE54-8EF8-2097-B01D-26A5BC78232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777" t="28038" r="5276" b="38142"/>
          <a:stretch>
            <a:fillRect/>
          </a:stretch>
        </p:blipFill>
        <p:spPr>
          <a:xfrm>
            <a:off x="0" y="0"/>
            <a:ext cx="1245915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85737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09061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24319</TotalTime>
  <Words>332</Words>
  <Application>Microsoft Macintosh PowerPoint</Application>
  <PresentationFormat>Widescreen</PresentationFormat>
  <Paragraphs>90</Paragraphs>
  <Slides>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Century Gothic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Laurits Wieslander Lyngbæk</dc:creator>
  <cp:lastModifiedBy>Laurits Wieslander Lyngbæk</cp:lastModifiedBy>
  <cp:revision>4</cp:revision>
  <cp:lastPrinted>2026-03-26T10:52:05Z</cp:lastPrinted>
  <dcterms:created xsi:type="dcterms:W3CDTF">2026-03-13T14:12:36Z</dcterms:created>
  <dcterms:modified xsi:type="dcterms:W3CDTF">2026-04-01T08:48:27Z</dcterms:modified>
</cp:coreProperties>
</file>